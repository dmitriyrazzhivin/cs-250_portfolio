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9" r:id="rId1"/>
  </p:sldMasterIdLst>
  <p:notesMasterIdLst>
    <p:notesMasterId r:id="rId8"/>
  </p:notesMasterIdLst>
  <p:sldIdLst>
    <p:sldId id="256" r:id="rId2"/>
    <p:sldId id="257" r:id="rId3"/>
    <p:sldId id="258" r:id="rId4"/>
    <p:sldId id="259" r:id="rId5"/>
    <p:sldId id="260" r:id="rId6"/>
    <p:sldId id="261"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03BA4D5-ADCF-60E2-DFB0-A68D383BA4BC}" v="26" dt="2026-08-16T13:19:27.466"/>
    <p1510:client id="{8D822633-9C3E-4382-9CF0-751A13EBAE53}" v="782" dt="2026-08-14T15:23:47.44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0NoLn">
    <dgm:fillClrLst meth="repeat">
      <a:schemeClr val="accent1"/>
    </dgm:fillClrLst>
    <dgm:linClrLst meth="repeat">
      <a:schemeClr val="lt1">
        <a:alpha val="0"/>
      </a:schemeClr>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1NoLn">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ltNode1NoLn">
    <dgm:fillClrLst meth="repeat">
      <a:schemeClr val="accent2">
        <a:tint val="75000"/>
      </a:schemeClr>
      <a:schemeClr val="accent3">
        <a:tint val="75000"/>
      </a:schemeClr>
      <a:schemeClr val="accent4">
        <a:tint val="75000"/>
      </a:schemeClr>
      <a:schemeClr val="accent5">
        <a:tint val="75000"/>
      </a:schemeClr>
      <a:schemeClr val="accent6">
        <a:tint val="75000"/>
      </a:schemeClr>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2NoLn">
    <dgm:fillClrLst>
      <a:schemeClr val="accent2"/>
    </dgm:fillClrLst>
    <dgm:linClrLst meth="repeat">
      <a:schemeClr val="lt1">
        <a:alpha val="0"/>
      </a:schemeClr>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3NoLn">
    <dgm:fillClrLst>
      <a:schemeClr val="accent3"/>
    </dgm:fillClrLst>
    <dgm:linClrLst meth="repeat">
      <a:schemeClr val="lt1">
        <a:alpha val="0"/>
      </a:schemeClr>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node4NoLn">
    <dgm:fillClrLst>
      <a:schemeClr val="accent4"/>
    </dgm:fillClrLst>
    <dgm:linClrLst meth="repeat">
      <a:schemeClr val="lt1">
        <a:alpha val="0"/>
      </a:schemeClr>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revTxLt">
    <dgm:fillClrLst meth="repeat">
      <a:schemeClr val="lt1">
        <a:alpha val="0"/>
      </a:schemeClr>
    </dgm:fillClrLst>
    <dgm:linClrLst meth="repeat">
      <a:schemeClr val="dk1">
        <a:alpha val="0"/>
      </a:schemeClr>
    </dgm:linClrLst>
    <dgm:effectClrLst/>
    <dgm:txLinClrLst/>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node0NoLn">
    <dgm:fillClrLst meth="repeat">
      <a:schemeClr val="accent1"/>
    </dgm:fillClrLst>
    <dgm:linClrLst meth="repeat">
      <a:schemeClr val="lt1">
        <a:alpha val="0"/>
      </a:schemeClr>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1NoLn">
    <dgm:fillClrLst meth="repeat">
      <a:schemeClr val="accent1"/>
    </dgm:fillClrLst>
    <dgm:linClrLst meth="repeat">
      <a:schemeClr val="lt1">
        <a:alpha val="0"/>
      </a:schemeClr>
    </dgm:linClrLst>
    <dgm:effectClrLst/>
    <dgm:txLinClrLst/>
    <dgm:txFillClrLst/>
    <dgm:txEffectClrLst/>
  </dgm:styleLbl>
  <dgm:styleLbl name="ltNode1NoLn">
    <dgm:fillClrLst meth="repeat">
      <a:schemeClr val="accent1">
        <a:tint val="75000"/>
      </a:schemeClr>
    </dgm:fillClrLst>
    <dgm:linClrLst meth="repeat">
      <a:schemeClr val="lt1">
        <a:alpha val="0"/>
      </a:schemeClr>
    </dgm:linClrLst>
    <dgm:effectClrLst/>
    <dgm:txLinClrLst/>
    <dgm:txFillClrLst meth="repeat">
      <a:schemeClr val="dk1"/>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2NoLn">
    <dgm:fillClrLst meth="repeat">
      <a:schemeClr val="accent1"/>
    </dgm:fillClrLst>
    <dgm:linClrLst meth="repeat">
      <a:schemeClr val="lt1">
        <a:alpha val="0"/>
      </a:schemeClr>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3NoLn">
    <dgm:fillClrLst meth="repeat">
      <a:schemeClr val="accent1"/>
    </dgm:fillClrLst>
    <dgm:linClrLst meth="repeat">
      <a:schemeClr val="lt1">
        <a:alpha val="0"/>
      </a:schemeClr>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node4NoLn">
    <dgm:fillClrLst meth="repeat">
      <a:schemeClr val="accent1"/>
    </dgm:fillClrLst>
    <dgm:linClrLst meth="repeat">
      <a:schemeClr val="lt1">
        <a:alpha val="0"/>
      </a:schemeClr>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revTxLt">
    <dgm:fillClrLst meth="repeat">
      <a:schemeClr val="lt1">
        <a:alpha val="0"/>
      </a:schemeClr>
    </dgm:fillClrLst>
    <dgm:linClrLst meth="repeat">
      <a:schemeClr val="dk1">
        <a:alpha val="0"/>
      </a:schemeClr>
    </dgm:linClrLst>
    <dgm:effectClrLst/>
    <dgm:txLinClrLst/>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0NoLn">
    <dgm:fillClrLst meth="repeat">
      <a:schemeClr val="accent1"/>
    </dgm:fillClrLst>
    <dgm:linClrLst meth="repeat">
      <a:schemeClr val="lt1">
        <a:alpha val="0"/>
      </a:schemeClr>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1NoLn">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ltNode1NoLn">
    <dgm:fillClrLst meth="repeat">
      <a:schemeClr val="accent2">
        <a:tint val="75000"/>
      </a:schemeClr>
      <a:schemeClr val="accent3">
        <a:tint val="75000"/>
      </a:schemeClr>
      <a:schemeClr val="accent4">
        <a:tint val="75000"/>
      </a:schemeClr>
      <a:schemeClr val="accent5">
        <a:tint val="75000"/>
      </a:schemeClr>
      <a:schemeClr val="accent6">
        <a:tint val="75000"/>
      </a:schemeClr>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2NoLn">
    <dgm:fillClrLst>
      <a:schemeClr val="accent2"/>
    </dgm:fillClrLst>
    <dgm:linClrLst meth="repeat">
      <a:schemeClr val="lt1">
        <a:alpha val="0"/>
      </a:schemeClr>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3NoLn">
    <dgm:fillClrLst>
      <a:schemeClr val="accent3"/>
    </dgm:fillClrLst>
    <dgm:linClrLst meth="repeat">
      <a:schemeClr val="lt1">
        <a:alpha val="0"/>
      </a:schemeClr>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node4NoLn">
    <dgm:fillClrLst>
      <a:schemeClr val="accent4"/>
    </dgm:fillClrLst>
    <dgm:linClrLst meth="repeat">
      <a:schemeClr val="lt1">
        <a:alpha val="0"/>
      </a:schemeClr>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revTxLt">
    <dgm:fillClrLst meth="repeat">
      <a:schemeClr val="lt1">
        <a:alpha val="0"/>
      </a:schemeClr>
    </dgm:fillClrLst>
    <dgm:linClrLst meth="repeat">
      <a:schemeClr val="dk1">
        <a:alpha val="0"/>
      </a:schemeClr>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1043DD12-DD97-4F89-8E98-15E4FA651645}" type="doc">
      <dgm:prSet loTypeId="urn:microsoft.com/office/officeart/2005/8/layout/hList1" loCatId="list" qsTypeId="urn:microsoft.com/office/officeart/2005/8/quickstyle/simple1" qsCatId="simple" csTypeId="urn:microsoft.com/office/officeart/2005/8/colors/colorful1" csCatId="colorful" phldr="1"/>
      <dgm:spPr/>
      <dgm:t>
        <a:bodyPr/>
        <a:lstStyle/>
        <a:p>
          <a:endParaRPr lang="en-US"/>
        </a:p>
      </dgm:t>
    </dgm:pt>
    <dgm:pt modelId="{E7F81C95-F0ED-405D-820C-308E1121E753}">
      <dgm:prSet phldrT="[Text]" phldr="0"/>
      <dgm:spPr/>
      <dgm:t>
        <a:bodyPr/>
        <a:lstStyle/>
        <a:p>
          <a:pPr rtl="0"/>
          <a:r>
            <a:rPr lang="en-US">
              <a:latin typeface="Century Gothic" panose="020B0502020202020204"/>
            </a:rPr>
            <a:t>Product Owner(Value Maximizer)</a:t>
          </a:r>
          <a:endParaRPr lang="en-US"/>
        </a:p>
      </dgm:t>
    </dgm:pt>
    <dgm:pt modelId="{4996FF14-F325-492B-905A-478CB5B324C2}" type="parTrans" cxnId="{AC1DBC07-7D57-4605-9E25-910E0AC8C3B9}">
      <dgm:prSet/>
      <dgm:spPr/>
      <dgm:t>
        <a:bodyPr/>
        <a:lstStyle/>
        <a:p>
          <a:endParaRPr lang="en-US"/>
        </a:p>
      </dgm:t>
    </dgm:pt>
    <dgm:pt modelId="{AAE7BC89-F4C8-4AE0-AD6D-3EE6160A1AF8}" type="sibTrans" cxnId="{AC1DBC07-7D57-4605-9E25-910E0AC8C3B9}">
      <dgm:prSet/>
      <dgm:spPr/>
      <dgm:t>
        <a:bodyPr/>
        <a:lstStyle/>
        <a:p>
          <a:endParaRPr lang="en-US"/>
        </a:p>
      </dgm:t>
    </dgm:pt>
    <dgm:pt modelId="{17B11419-57A2-431D-9B9B-C503F7F3FC1D}">
      <dgm:prSet phldrT="[Text]" phldr="0"/>
      <dgm:spPr/>
      <dgm:t>
        <a:bodyPr/>
        <a:lstStyle/>
        <a:p>
          <a:r>
            <a:rPr lang="en-US" sz="1400" b="1" dirty="0">
              <a:latin typeface="Arial"/>
              <a:cs typeface="Arial"/>
            </a:rPr>
            <a:t>Backlog Ownership:</a:t>
          </a:r>
          <a:r>
            <a:rPr lang="en-US" sz="1400" dirty="0">
              <a:latin typeface="Arial"/>
              <a:cs typeface="Arial"/>
            </a:rPr>
            <a:t> Defines product vision and maintains/prioritizes the Product </a:t>
          </a:r>
          <a:r>
            <a:rPr lang="en-US" sz="1400">
              <a:latin typeface="Arial"/>
              <a:cs typeface="Arial"/>
            </a:rPr>
            <a:t>Backlog.</a:t>
          </a:r>
          <a:endParaRPr lang="en-US" sz="1400" dirty="0">
            <a:latin typeface="Arial"/>
            <a:cs typeface="Arial"/>
          </a:endParaRPr>
        </a:p>
      </dgm:t>
    </dgm:pt>
    <dgm:pt modelId="{5BB185C6-13BD-46D6-ACE1-0A4CF5160221}" type="parTrans" cxnId="{9A287855-0922-4AD1-82A6-3C404FB2506E}">
      <dgm:prSet/>
      <dgm:spPr/>
      <dgm:t>
        <a:bodyPr/>
        <a:lstStyle/>
        <a:p>
          <a:endParaRPr lang="en-US"/>
        </a:p>
      </dgm:t>
    </dgm:pt>
    <dgm:pt modelId="{CE7468AF-6D6E-4719-A2D1-D2DAE6284EF0}" type="sibTrans" cxnId="{9A287855-0922-4AD1-82A6-3C404FB2506E}">
      <dgm:prSet/>
      <dgm:spPr/>
      <dgm:t>
        <a:bodyPr/>
        <a:lstStyle/>
        <a:p>
          <a:endParaRPr lang="en-US"/>
        </a:p>
      </dgm:t>
    </dgm:pt>
    <dgm:pt modelId="{BAE8C7D8-C293-41A6-8F03-5CFE59FD9BB4}">
      <dgm:prSet phldrT="[Text]" phldr="0"/>
      <dgm:spPr/>
      <dgm:t>
        <a:bodyPr/>
        <a:lstStyle/>
        <a:p>
          <a:pPr rtl="0"/>
          <a:r>
            <a:rPr lang="en-US">
              <a:latin typeface="Century Gothic" panose="020B0502020202020204"/>
            </a:rPr>
            <a:t>Scrum Master (Servant Leader )</a:t>
          </a:r>
          <a:endParaRPr lang="en-US" sz="1100">
            <a:latin typeface="Calibri"/>
            <a:ea typeface="Calibri"/>
            <a:cs typeface="Calibri"/>
          </a:endParaRPr>
        </a:p>
      </dgm:t>
    </dgm:pt>
    <dgm:pt modelId="{AF945B0E-9286-4374-A804-4684896C4644}" type="parTrans" cxnId="{8F7A1087-7F89-4E26-8233-FDB1AC51AB20}">
      <dgm:prSet/>
      <dgm:spPr/>
      <dgm:t>
        <a:bodyPr/>
        <a:lstStyle/>
        <a:p>
          <a:endParaRPr lang="en-US"/>
        </a:p>
      </dgm:t>
    </dgm:pt>
    <dgm:pt modelId="{1B63297A-5A41-492C-840B-D5C6BE6CFDA8}" type="sibTrans" cxnId="{8F7A1087-7F89-4E26-8233-FDB1AC51AB20}">
      <dgm:prSet/>
      <dgm:spPr/>
      <dgm:t>
        <a:bodyPr/>
        <a:lstStyle/>
        <a:p>
          <a:endParaRPr lang="en-US"/>
        </a:p>
      </dgm:t>
    </dgm:pt>
    <dgm:pt modelId="{B41C5989-D259-43D7-BB29-6D2BF2C53420}">
      <dgm:prSet phldrT="[Text]" phldr="0"/>
      <dgm:spPr/>
      <dgm:t>
        <a:bodyPr/>
        <a:lstStyle/>
        <a:p>
          <a:pPr algn="l" rtl="0"/>
          <a:r>
            <a:rPr lang="en-US" b="1" dirty="0"/>
            <a:t>Facilitation &amp; Coaching:</a:t>
          </a:r>
          <a:r>
            <a:rPr lang="en-US" dirty="0"/>
            <a:t> Shields the team from external disruptions and coaches members on Scrum practices.</a:t>
          </a:r>
        </a:p>
      </dgm:t>
    </dgm:pt>
    <dgm:pt modelId="{3A7590DE-347A-471E-BB42-6FF6BF1A59AC}" type="parTrans" cxnId="{12A66064-5D42-4EE7-9C12-1312CB917EE3}">
      <dgm:prSet/>
      <dgm:spPr/>
      <dgm:t>
        <a:bodyPr/>
        <a:lstStyle/>
        <a:p>
          <a:endParaRPr lang="en-US"/>
        </a:p>
      </dgm:t>
    </dgm:pt>
    <dgm:pt modelId="{6CFC4D40-6009-4A9F-9DDF-5F87FBA297EF}" type="sibTrans" cxnId="{12A66064-5D42-4EE7-9C12-1312CB917EE3}">
      <dgm:prSet/>
      <dgm:spPr/>
      <dgm:t>
        <a:bodyPr/>
        <a:lstStyle/>
        <a:p>
          <a:endParaRPr lang="en-US"/>
        </a:p>
      </dgm:t>
    </dgm:pt>
    <dgm:pt modelId="{2E07435E-707A-4D7A-B21A-86722F4B932F}">
      <dgm:prSet phldrT="[Text]" phldr="0"/>
      <dgm:spPr/>
      <dgm:t>
        <a:bodyPr/>
        <a:lstStyle/>
        <a:p>
          <a:pPr rtl="0"/>
          <a:r>
            <a:rPr lang="en-US" dirty="0">
              <a:latin typeface="Century Gothic" panose="020B0502020202020204"/>
            </a:rPr>
            <a:t>Development</a:t>
          </a:r>
          <a:r>
            <a:rPr lang="en-US" dirty="0"/>
            <a:t> &amp; QA (Cross-Functional Creators)</a:t>
          </a:r>
        </a:p>
      </dgm:t>
    </dgm:pt>
    <dgm:pt modelId="{3960C448-8883-4C0A-92B2-664F7C71B623}" type="parTrans" cxnId="{344C1C52-B767-460C-800B-6DDA8C18DC1E}">
      <dgm:prSet/>
      <dgm:spPr/>
      <dgm:t>
        <a:bodyPr/>
        <a:lstStyle/>
        <a:p>
          <a:endParaRPr lang="en-US"/>
        </a:p>
      </dgm:t>
    </dgm:pt>
    <dgm:pt modelId="{CB6ACF49-809F-4223-8D7D-B519C2541366}" type="sibTrans" cxnId="{344C1C52-B767-460C-800B-6DDA8C18DC1E}">
      <dgm:prSet/>
      <dgm:spPr/>
      <dgm:t>
        <a:bodyPr/>
        <a:lstStyle/>
        <a:p>
          <a:endParaRPr lang="en-US"/>
        </a:p>
      </dgm:t>
    </dgm:pt>
    <dgm:pt modelId="{CDB3E1E2-2D47-43FA-8DCC-3B30F9C3CA8A}">
      <dgm:prSet phldrT="[Text]" phldr="0"/>
      <dgm:spPr/>
      <dgm:t>
        <a:bodyPr/>
        <a:lstStyle/>
        <a:p>
          <a:pPr rtl="0"/>
          <a:r>
            <a:rPr lang="en-US" b="1" dirty="0">
              <a:latin typeface="Century Gothic" panose="020B0502020202020204"/>
            </a:rPr>
            <a:t>Self-Organization</a:t>
          </a:r>
          <a:r>
            <a:rPr lang="en-US" b="1" dirty="0"/>
            <a:t>:</a:t>
          </a:r>
          <a:r>
            <a:rPr lang="en-US" dirty="0"/>
            <a:t> Cross-functional group of developers and testers collaborating directly on sprint increments.</a:t>
          </a:r>
        </a:p>
      </dgm:t>
    </dgm:pt>
    <dgm:pt modelId="{F45C947A-3E7E-4161-9709-C6E82068EC98}" type="parTrans" cxnId="{C8564252-D31A-48FC-A43A-79184D805619}">
      <dgm:prSet/>
      <dgm:spPr/>
      <dgm:t>
        <a:bodyPr/>
        <a:lstStyle/>
        <a:p>
          <a:endParaRPr lang="en-US"/>
        </a:p>
      </dgm:t>
    </dgm:pt>
    <dgm:pt modelId="{DFF99042-B89A-4995-8DE7-D0C1814E4C48}" type="sibTrans" cxnId="{C8564252-D31A-48FC-A43A-79184D805619}">
      <dgm:prSet/>
      <dgm:spPr/>
      <dgm:t>
        <a:bodyPr/>
        <a:lstStyle/>
        <a:p>
          <a:endParaRPr lang="en-US"/>
        </a:p>
      </dgm:t>
    </dgm:pt>
    <dgm:pt modelId="{28F95362-3B33-41E6-9765-5954FC1A58F6}">
      <dgm:prSet phldrT="[Text]" phldr="0"/>
      <dgm:spPr/>
      <dgm:t>
        <a:bodyPr/>
        <a:lstStyle/>
        <a:p>
          <a:pPr rtl="0"/>
          <a:r>
            <a:rPr lang="en-US" b="1" dirty="0">
              <a:latin typeface="Century Gothic" panose="020B0502020202020204"/>
            </a:rPr>
            <a:t>Shared Ownership</a:t>
          </a:r>
          <a:r>
            <a:rPr lang="en-US" b="1" dirty="0"/>
            <a:t>:</a:t>
          </a:r>
          <a:r>
            <a:rPr lang="en-US" dirty="0"/>
            <a:t> Eliminates knowledge silos and single points of failure through continuous pairing and test verification.</a:t>
          </a:r>
        </a:p>
      </dgm:t>
    </dgm:pt>
    <dgm:pt modelId="{5997D40A-0390-447E-9EF0-6F3927B3D778}" type="parTrans" cxnId="{14731600-4379-4472-9BCC-D02DF33FDAED}">
      <dgm:prSet/>
      <dgm:spPr/>
      <dgm:t>
        <a:bodyPr/>
        <a:lstStyle/>
        <a:p>
          <a:endParaRPr lang="en-US"/>
        </a:p>
      </dgm:t>
    </dgm:pt>
    <dgm:pt modelId="{D3151F73-3839-4013-8B7F-317B9B5F78BD}" type="sibTrans" cxnId="{14731600-4379-4472-9BCC-D02DF33FDAED}">
      <dgm:prSet/>
      <dgm:spPr/>
      <dgm:t>
        <a:bodyPr/>
        <a:lstStyle/>
        <a:p>
          <a:endParaRPr lang="en-US"/>
        </a:p>
      </dgm:t>
    </dgm:pt>
    <dgm:pt modelId="{EC873E4D-EDE2-46EA-BCA0-EEF680C220B3}">
      <dgm:prSet phldrT="[Text]" phldr="0"/>
      <dgm:spPr/>
      <dgm:t>
        <a:bodyPr/>
        <a:lstStyle/>
        <a:p>
          <a:pPr rtl="0"/>
          <a:r>
            <a:rPr lang="en-US" sz="1400" b="1" dirty="0"/>
            <a:t>Value Delivery:</a:t>
          </a:r>
          <a:r>
            <a:rPr lang="en-US" sz="1400" dirty="0"/>
            <a:t> Translates stakeholder goals into granular user stories with strict acceptance criteria.</a:t>
          </a:r>
          <a:endParaRPr lang="en-US" sz="1400" dirty="0">
            <a:latin typeface="Arial"/>
            <a:cs typeface="Arial"/>
          </a:endParaRPr>
        </a:p>
      </dgm:t>
    </dgm:pt>
    <dgm:pt modelId="{B11B975B-DDDB-4593-9F7A-89E74A17EA59}" type="parTrans" cxnId="{BD8BAD20-9BC8-4213-A377-19185BEA00B8}">
      <dgm:prSet/>
      <dgm:spPr/>
    </dgm:pt>
    <dgm:pt modelId="{D69431E2-29B8-44D7-A154-4D748D320D9D}" type="sibTrans" cxnId="{BD8BAD20-9BC8-4213-A377-19185BEA00B8}">
      <dgm:prSet/>
      <dgm:spPr/>
    </dgm:pt>
    <dgm:pt modelId="{1CDAF751-CF9C-4C24-BAA8-C5B993C8459D}">
      <dgm:prSet phldrT="[Text]" phldr="0"/>
      <dgm:spPr/>
      <dgm:t>
        <a:bodyPr/>
        <a:lstStyle/>
        <a:p>
          <a:pPr rtl="0"/>
          <a:r>
            <a:rPr lang="en-US" sz="1400" b="1" dirty="0"/>
            <a:t>ROI Focus:</a:t>
          </a:r>
          <a:r>
            <a:rPr lang="en-US" sz="1400" dirty="0"/>
            <a:t> Prevents scope creep and ensures engineering work targets high-value features first.</a:t>
          </a:r>
          <a:endParaRPr lang="en-US" sz="1400" dirty="0">
            <a:latin typeface="Century Gothic" panose="020B0502020202020204"/>
          </a:endParaRPr>
        </a:p>
      </dgm:t>
    </dgm:pt>
    <dgm:pt modelId="{8C94D629-2B3E-439D-B746-716A928C5489}" type="parTrans" cxnId="{22DB0924-22E3-4DD7-89D4-6F6873DFB063}">
      <dgm:prSet/>
      <dgm:spPr/>
    </dgm:pt>
    <dgm:pt modelId="{BA875851-9964-4564-9225-5719DDE7C465}" type="sibTrans" cxnId="{22DB0924-22E3-4DD7-89D4-6F6873DFB063}">
      <dgm:prSet/>
      <dgm:spPr/>
    </dgm:pt>
    <dgm:pt modelId="{A6A8515A-AD44-4BE9-8B60-A07D3F3B5084}">
      <dgm:prSet phldrT="[Text]" phldr="0"/>
      <dgm:spPr/>
      <dgm:t>
        <a:bodyPr/>
        <a:lstStyle/>
        <a:p>
          <a:pPr algn="l" rtl="0"/>
          <a:r>
            <a:rPr lang="en-US" b="1" dirty="0"/>
            <a:t>Impediment Removal:</a:t>
          </a:r>
          <a:r>
            <a:rPr lang="en-US" dirty="0"/>
            <a:t> Proactively identifies and clears workflow bottlenecks and dependencies.</a:t>
          </a:r>
          <a:endParaRPr lang="en-US" dirty="0">
            <a:latin typeface="Century Gothic" panose="020B0502020202020204"/>
          </a:endParaRPr>
        </a:p>
      </dgm:t>
    </dgm:pt>
    <dgm:pt modelId="{BAB87710-401F-46EE-8519-525948BEE914}" type="parTrans" cxnId="{BEEA035F-3E00-4B3A-8BF7-9B03D08D5D70}">
      <dgm:prSet/>
      <dgm:spPr/>
    </dgm:pt>
    <dgm:pt modelId="{72CDEB60-CD4D-4288-8719-6BBEE623670F}" type="sibTrans" cxnId="{BEEA035F-3E00-4B3A-8BF7-9B03D08D5D70}">
      <dgm:prSet/>
      <dgm:spPr/>
    </dgm:pt>
    <dgm:pt modelId="{8DBF44A0-1729-434E-9748-11C048F468B4}">
      <dgm:prSet phldrT="[Text]" phldr="0"/>
      <dgm:spPr/>
      <dgm:t>
        <a:bodyPr/>
        <a:lstStyle/>
        <a:p>
          <a:pPr algn="l" rtl="0"/>
          <a:r>
            <a:rPr lang="en-US" b="1" dirty="0"/>
            <a:t>Empirical Rigor:</a:t>
          </a:r>
          <a:r>
            <a:rPr lang="en-US" dirty="0"/>
            <a:t> Research demonstrates that active Scrum Masters significantly increase adherence to Agile practices (Shastri et al., 2021).</a:t>
          </a:r>
          <a:endParaRPr lang="en-US" dirty="0">
            <a:latin typeface="Century Gothic" panose="020B0502020202020204"/>
          </a:endParaRPr>
        </a:p>
      </dgm:t>
    </dgm:pt>
    <dgm:pt modelId="{0ACC6784-DA50-4952-84D3-1933E2126DA2}" type="parTrans" cxnId="{5AD3D82D-F951-455F-8C15-3CC442594B36}">
      <dgm:prSet/>
      <dgm:spPr/>
    </dgm:pt>
    <dgm:pt modelId="{B567C7B3-B417-42EA-BD43-E5877219CD00}" type="sibTrans" cxnId="{5AD3D82D-F951-455F-8C15-3CC442594B36}">
      <dgm:prSet/>
      <dgm:spPr/>
    </dgm:pt>
    <dgm:pt modelId="{C002D4E1-5283-4250-BB50-FE774703756F}">
      <dgm:prSet phldrT="[Text]" phldr="0"/>
      <dgm:spPr/>
      <dgm:t>
        <a:bodyPr/>
        <a:lstStyle/>
        <a:p>
          <a:pPr rtl="0"/>
          <a:r>
            <a:rPr lang="en-US" b="1" dirty="0">
              <a:latin typeface="Century Gothic" panose="020B0502020202020204"/>
            </a:rPr>
            <a:t>Team Alignment</a:t>
          </a:r>
          <a:r>
            <a:rPr lang="en-US" b="1" dirty="0"/>
            <a:t>:</a:t>
          </a:r>
          <a:r>
            <a:rPr lang="en-US" dirty="0"/>
            <a:t> Structured role collaboration fosters transparent communication and shared mental models (Kostin &amp; Strode, 2023).</a:t>
          </a:r>
        </a:p>
      </dgm:t>
    </dgm:pt>
    <dgm:pt modelId="{FE6A4A27-B70F-4F75-AF58-AEBD419A28A7}" type="parTrans" cxnId="{98F1F10D-0ACE-43D9-B4BE-0AE9DA157D4F}">
      <dgm:prSet/>
      <dgm:spPr/>
    </dgm:pt>
    <dgm:pt modelId="{75783CC2-A51B-42D2-B23D-5634F7ED1881}" type="sibTrans" cxnId="{98F1F10D-0ACE-43D9-B4BE-0AE9DA157D4F}">
      <dgm:prSet/>
      <dgm:spPr/>
    </dgm:pt>
    <dgm:pt modelId="{D7B54F4E-B490-41C4-9962-6DC58C6828B2}" type="pres">
      <dgm:prSet presAssocID="{1043DD12-DD97-4F89-8E98-15E4FA651645}" presName="Name0" presStyleCnt="0">
        <dgm:presLayoutVars>
          <dgm:dir/>
          <dgm:animLvl val="lvl"/>
          <dgm:resizeHandles val="exact"/>
        </dgm:presLayoutVars>
      </dgm:prSet>
      <dgm:spPr/>
    </dgm:pt>
    <dgm:pt modelId="{E0F01F24-FB75-4E67-AC16-D65C63A36826}" type="pres">
      <dgm:prSet presAssocID="{E7F81C95-F0ED-405D-820C-308E1121E753}" presName="composite" presStyleCnt="0"/>
      <dgm:spPr/>
    </dgm:pt>
    <dgm:pt modelId="{CF408B11-097F-4B6D-9AFC-0928459F03A7}" type="pres">
      <dgm:prSet presAssocID="{E7F81C95-F0ED-405D-820C-308E1121E753}" presName="parTx" presStyleLbl="alignNode1" presStyleIdx="0" presStyleCnt="3">
        <dgm:presLayoutVars>
          <dgm:chMax val="0"/>
          <dgm:chPref val="0"/>
          <dgm:bulletEnabled val="1"/>
        </dgm:presLayoutVars>
      </dgm:prSet>
      <dgm:spPr/>
    </dgm:pt>
    <dgm:pt modelId="{EA8332B2-8B87-41BD-9E6C-03F71A5B60C2}" type="pres">
      <dgm:prSet presAssocID="{E7F81C95-F0ED-405D-820C-308E1121E753}" presName="desTx" presStyleLbl="alignAccFollowNode1" presStyleIdx="0" presStyleCnt="3">
        <dgm:presLayoutVars>
          <dgm:bulletEnabled val="1"/>
        </dgm:presLayoutVars>
      </dgm:prSet>
      <dgm:spPr/>
    </dgm:pt>
    <dgm:pt modelId="{87F0271F-E9EC-4931-98EB-1C135DE5887A}" type="pres">
      <dgm:prSet presAssocID="{AAE7BC89-F4C8-4AE0-AD6D-3EE6160A1AF8}" presName="space" presStyleCnt="0"/>
      <dgm:spPr/>
    </dgm:pt>
    <dgm:pt modelId="{77A628A6-6527-4934-8CC9-698F41F3A9E7}" type="pres">
      <dgm:prSet presAssocID="{BAE8C7D8-C293-41A6-8F03-5CFE59FD9BB4}" presName="composite" presStyleCnt="0"/>
      <dgm:spPr/>
    </dgm:pt>
    <dgm:pt modelId="{D7ED2486-E31A-4877-989F-E08788F512EA}" type="pres">
      <dgm:prSet presAssocID="{BAE8C7D8-C293-41A6-8F03-5CFE59FD9BB4}" presName="parTx" presStyleLbl="alignNode1" presStyleIdx="1" presStyleCnt="3">
        <dgm:presLayoutVars>
          <dgm:chMax val="0"/>
          <dgm:chPref val="0"/>
          <dgm:bulletEnabled val="1"/>
        </dgm:presLayoutVars>
      </dgm:prSet>
      <dgm:spPr/>
    </dgm:pt>
    <dgm:pt modelId="{5DECCD2C-457F-4D72-A1AF-01390D068FC0}" type="pres">
      <dgm:prSet presAssocID="{BAE8C7D8-C293-41A6-8F03-5CFE59FD9BB4}" presName="desTx" presStyleLbl="alignAccFollowNode1" presStyleIdx="1" presStyleCnt="3">
        <dgm:presLayoutVars>
          <dgm:bulletEnabled val="1"/>
        </dgm:presLayoutVars>
      </dgm:prSet>
      <dgm:spPr/>
    </dgm:pt>
    <dgm:pt modelId="{4940318C-C8F3-4F8E-B295-12330F4313FF}" type="pres">
      <dgm:prSet presAssocID="{1B63297A-5A41-492C-840B-D5C6BE6CFDA8}" presName="space" presStyleCnt="0"/>
      <dgm:spPr/>
    </dgm:pt>
    <dgm:pt modelId="{B0964A6D-BC2D-4941-AA12-7E1E6371A2B6}" type="pres">
      <dgm:prSet presAssocID="{2E07435E-707A-4D7A-B21A-86722F4B932F}" presName="composite" presStyleCnt="0"/>
      <dgm:spPr/>
    </dgm:pt>
    <dgm:pt modelId="{F4837703-3F15-4320-95FD-D982DF6697F7}" type="pres">
      <dgm:prSet presAssocID="{2E07435E-707A-4D7A-B21A-86722F4B932F}" presName="parTx" presStyleLbl="alignNode1" presStyleIdx="2" presStyleCnt="3">
        <dgm:presLayoutVars>
          <dgm:chMax val="0"/>
          <dgm:chPref val="0"/>
          <dgm:bulletEnabled val="1"/>
        </dgm:presLayoutVars>
      </dgm:prSet>
      <dgm:spPr/>
    </dgm:pt>
    <dgm:pt modelId="{F5EC08D0-148B-4B53-9DA5-5CF602D67C5F}" type="pres">
      <dgm:prSet presAssocID="{2E07435E-707A-4D7A-B21A-86722F4B932F}" presName="desTx" presStyleLbl="alignAccFollowNode1" presStyleIdx="2" presStyleCnt="3">
        <dgm:presLayoutVars>
          <dgm:bulletEnabled val="1"/>
        </dgm:presLayoutVars>
      </dgm:prSet>
      <dgm:spPr/>
    </dgm:pt>
  </dgm:ptLst>
  <dgm:cxnLst>
    <dgm:cxn modelId="{14731600-4379-4472-9BCC-D02DF33FDAED}" srcId="{2E07435E-707A-4D7A-B21A-86722F4B932F}" destId="{28F95362-3B33-41E6-9765-5954FC1A58F6}" srcOrd="1" destOrd="0" parTransId="{5997D40A-0390-447E-9EF0-6F3927B3D778}" sibTransId="{D3151F73-3839-4013-8B7F-317B9B5F78BD}"/>
    <dgm:cxn modelId="{AC1DBC07-7D57-4605-9E25-910E0AC8C3B9}" srcId="{1043DD12-DD97-4F89-8E98-15E4FA651645}" destId="{E7F81C95-F0ED-405D-820C-308E1121E753}" srcOrd="0" destOrd="0" parTransId="{4996FF14-F325-492B-905A-478CB5B324C2}" sibTransId="{AAE7BC89-F4C8-4AE0-AD6D-3EE6160A1AF8}"/>
    <dgm:cxn modelId="{98F1F10D-0ACE-43D9-B4BE-0AE9DA157D4F}" srcId="{2E07435E-707A-4D7A-B21A-86722F4B932F}" destId="{C002D4E1-5283-4250-BB50-FE774703756F}" srcOrd="2" destOrd="0" parTransId="{FE6A4A27-B70F-4F75-AF58-AEBD419A28A7}" sibTransId="{75783CC2-A51B-42D2-B23D-5634F7ED1881}"/>
    <dgm:cxn modelId="{ABC31816-77E4-4AC3-B97F-41F10E9706E9}" type="presOf" srcId="{C002D4E1-5283-4250-BB50-FE774703756F}" destId="{F5EC08D0-148B-4B53-9DA5-5CF602D67C5F}" srcOrd="0" destOrd="2" presId="urn:microsoft.com/office/officeart/2005/8/layout/hList1"/>
    <dgm:cxn modelId="{61052416-BD27-41C5-B29D-B8FE5D212059}" type="presOf" srcId="{1CDAF751-CF9C-4C24-BAA8-C5B993C8459D}" destId="{EA8332B2-8B87-41BD-9E6C-03F71A5B60C2}" srcOrd="0" destOrd="2" presId="urn:microsoft.com/office/officeart/2005/8/layout/hList1"/>
    <dgm:cxn modelId="{BD8BAD20-9BC8-4213-A377-19185BEA00B8}" srcId="{E7F81C95-F0ED-405D-820C-308E1121E753}" destId="{EC873E4D-EDE2-46EA-BCA0-EEF680C220B3}" srcOrd="1" destOrd="0" parTransId="{B11B975B-DDDB-4593-9F7A-89E74A17EA59}" sibTransId="{D69431E2-29B8-44D7-A154-4D748D320D9D}"/>
    <dgm:cxn modelId="{22DB0924-22E3-4DD7-89D4-6F6873DFB063}" srcId="{E7F81C95-F0ED-405D-820C-308E1121E753}" destId="{1CDAF751-CF9C-4C24-BAA8-C5B993C8459D}" srcOrd="2" destOrd="0" parTransId="{8C94D629-2B3E-439D-B746-716A928C5489}" sibTransId="{BA875851-9964-4564-9225-5719DDE7C465}"/>
    <dgm:cxn modelId="{5AD3D82D-F951-455F-8C15-3CC442594B36}" srcId="{BAE8C7D8-C293-41A6-8F03-5CFE59FD9BB4}" destId="{8DBF44A0-1729-434E-9748-11C048F468B4}" srcOrd="2" destOrd="0" parTransId="{0ACC6784-DA50-4952-84D3-1933E2126DA2}" sibTransId="{B567C7B3-B417-42EA-BD43-E5877219CD00}"/>
    <dgm:cxn modelId="{BEEA035F-3E00-4B3A-8BF7-9B03D08D5D70}" srcId="{BAE8C7D8-C293-41A6-8F03-5CFE59FD9BB4}" destId="{A6A8515A-AD44-4BE9-8B60-A07D3F3B5084}" srcOrd="1" destOrd="0" parTransId="{BAB87710-401F-46EE-8519-525948BEE914}" sibTransId="{72CDEB60-CD4D-4288-8719-6BBEE623670F}"/>
    <dgm:cxn modelId="{12A66064-5D42-4EE7-9C12-1312CB917EE3}" srcId="{BAE8C7D8-C293-41A6-8F03-5CFE59FD9BB4}" destId="{B41C5989-D259-43D7-BB29-6D2BF2C53420}" srcOrd="0" destOrd="0" parTransId="{3A7590DE-347A-471E-BB42-6FF6BF1A59AC}" sibTransId="{6CFC4D40-6009-4A9F-9DDF-5F87FBA297EF}"/>
    <dgm:cxn modelId="{344C1C52-B767-460C-800B-6DDA8C18DC1E}" srcId="{1043DD12-DD97-4F89-8E98-15E4FA651645}" destId="{2E07435E-707A-4D7A-B21A-86722F4B932F}" srcOrd="2" destOrd="0" parTransId="{3960C448-8883-4C0A-92B2-664F7C71B623}" sibTransId="{CB6ACF49-809F-4223-8D7D-B519C2541366}"/>
    <dgm:cxn modelId="{C8564252-D31A-48FC-A43A-79184D805619}" srcId="{2E07435E-707A-4D7A-B21A-86722F4B932F}" destId="{CDB3E1E2-2D47-43FA-8DCC-3B30F9C3CA8A}" srcOrd="0" destOrd="0" parTransId="{F45C947A-3E7E-4161-9709-C6E82068EC98}" sibTransId="{DFF99042-B89A-4995-8DE7-D0C1814E4C48}"/>
    <dgm:cxn modelId="{9A287855-0922-4AD1-82A6-3C404FB2506E}" srcId="{E7F81C95-F0ED-405D-820C-308E1121E753}" destId="{17B11419-57A2-431D-9B9B-C503F7F3FC1D}" srcOrd="0" destOrd="0" parTransId="{5BB185C6-13BD-46D6-ACE1-0A4CF5160221}" sibTransId="{CE7468AF-6D6E-4719-A2D1-D2DAE6284EF0}"/>
    <dgm:cxn modelId="{E587BF83-EFB8-4CC7-9E2C-593CF3FD0608}" type="presOf" srcId="{E7F81C95-F0ED-405D-820C-308E1121E753}" destId="{CF408B11-097F-4B6D-9AFC-0928459F03A7}" srcOrd="0" destOrd="0" presId="urn:microsoft.com/office/officeart/2005/8/layout/hList1"/>
    <dgm:cxn modelId="{F4A70F84-0529-465E-9625-A75B2D557B02}" type="presOf" srcId="{8DBF44A0-1729-434E-9748-11C048F468B4}" destId="{5DECCD2C-457F-4D72-A1AF-01390D068FC0}" srcOrd="0" destOrd="2" presId="urn:microsoft.com/office/officeart/2005/8/layout/hList1"/>
    <dgm:cxn modelId="{8F7A1087-7F89-4E26-8233-FDB1AC51AB20}" srcId="{1043DD12-DD97-4F89-8E98-15E4FA651645}" destId="{BAE8C7D8-C293-41A6-8F03-5CFE59FD9BB4}" srcOrd="1" destOrd="0" parTransId="{AF945B0E-9286-4374-A804-4684896C4644}" sibTransId="{1B63297A-5A41-492C-840B-D5C6BE6CFDA8}"/>
    <dgm:cxn modelId="{400E6B91-7928-4B44-9248-0A094C385F3F}" type="presOf" srcId="{EC873E4D-EDE2-46EA-BCA0-EEF680C220B3}" destId="{EA8332B2-8B87-41BD-9E6C-03F71A5B60C2}" srcOrd="0" destOrd="1" presId="urn:microsoft.com/office/officeart/2005/8/layout/hList1"/>
    <dgm:cxn modelId="{8A3FC299-7018-47F0-9323-69EE4BE181F1}" type="presOf" srcId="{28F95362-3B33-41E6-9765-5954FC1A58F6}" destId="{F5EC08D0-148B-4B53-9DA5-5CF602D67C5F}" srcOrd="0" destOrd="1" presId="urn:microsoft.com/office/officeart/2005/8/layout/hList1"/>
    <dgm:cxn modelId="{B36FFD9B-E86D-4B89-994A-0078065FFA84}" type="presOf" srcId="{CDB3E1E2-2D47-43FA-8DCC-3B30F9C3CA8A}" destId="{F5EC08D0-148B-4B53-9DA5-5CF602D67C5F}" srcOrd="0" destOrd="0" presId="urn:microsoft.com/office/officeart/2005/8/layout/hList1"/>
    <dgm:cxn modelId="{373C8FA5-31B0-4EC4-AAE9-77DACAD9ACC0}" type="presOf" srcId="{1043DD12-DD97-4F89-8E98-15E4FA651645}" destId="{D7B54F4E-B490-41C4-9962-6DC58C6828B2}" srcOrd="0" destOrd="0" presId="urn:microsoft.com/office/officeart/2005/8/layout/hList1"/>
    <dgm:cxn modelId="{08E491A5-6032-45E1-B14E-F4A7530B7DDC}" type="presOf" srcId="{A6A8515A-AD44-4BE9-8B60-A07D3F3B5084}" destId="{5DECCD2C-457F-4D72-A1AF-01390D068FC0}" srcOrd="0" destOrd="1" presId="urn:microsoft.com/office/officeart/2005/8/layout/hList1"/>
    <dgm:cxn modelId="{F0D2BDB2-DC27-4E7D-97FF-C23A6F3E2425}" type="presOf" srcId="{BAE8C7D8-C293-41A6-8F03-5CFE59FD9BB4}" destId="{D7ED2486-E31A-4877-989F-E08788F512EA}" srcOrd="0" destOrd="0" presId="urn:microsoft.com/office/officeart/2005/8/layout/hList1"/>
    <dgm:cxn modelId="{C2749DBC-A9AF-4A4C-998F-F64CF1F52265}" type="presOf" srcId="{B41C5989-D259-43D7-BB29-6D2BF2C53420}" destId="{5DECCD2C-457F-4D72-A1AF-01390D068FC0}" srcOrd="0" destOrd="0" presId="urn:microsoft.com/office/officeart/2005/8/layout/hList1"/>
    <dgm:cxn modelId="{28DAA8C4-FF49-4CCB-BFCB-5E8D6BE296D5}" type="presOf" srcId="{17B11419-57A2-431D-9B9B-C503F7F3FC1D}" destId="{EA8332B2-8B87-41BD-9E6C-03F71A5B60C2}" srcOrd="0" destOrd="0" presId="urn:microsoft.com/office/officeart/2005/8/layout/hList1"/>
    <dgm:cxn modelId="{BACF91DF-6BD0-47FF-83A5-767D863A9B1A}" type="presOf" srcId="{2E07435E-707A-4D7A-B21A-86722F4B932F}" destId="{F4837703-3F15-4320-95FD-D982DF6697F7}" srcOrd="0" destOrd="0" presId="urn:microsoft.com/office/officeart/2005/8/layout/hList1"/>
    <dgm:cxn modelId="{85FEE2E1-C538-4751-B315-9EA39824256A}" type="presParOf" srcId="{D7B54F4E-B490-41C4-9962-6DC58C6828B2}" destId="{E0F01F24-FB75-4E67-AC16-D65C63A36826}" srcOrd="0" destOrd="0" presId="urn:microsoft.com/office/officeart/2005/8/layout/hList1"/>
    <dgm:cxn modelId="{3E7E65AB-3A3A-4E06-BEBF-291D309FCEA9}" type="presParOf" srcId="{E0F01F24-FB75-4E67-AC16-D65C63A36826}" destId="{CF408B11-097F-4B6D-9AFC-0928459F03A7}" srcOrd="0" destOrd="0" presId="urn:microsoft.com/office/officeart/2005/8/layout/hList1"/>
    <dgm:cxn modelId="{B29E8964-9FCC-4AA6-B085-2EAB24DBE0E4}" type="presParOf" srcId="{E0F01F24-FB75-4E67-AC16-D65C63A36826}" destId="{EA8332B2-8B87-41BD-9E6C-03F71A5B60C2}" srcOrd="1" destOrd="0" presId="urn:microsoft.com/office/officeart/2005/8/layout/hList1"/>
    <dgm:cxn modelId="{A6F079EE-2EF7-4FE0-B89C-FF60C7994233}" type="presParOf" srcId="{D7B54F4E-B490-41C4-9962-6DC58C6828B2}" destId="{87F0271F-E9EC-4931-98EB-1C135DE5887A}" srcOrd="1" destOrd="0" presId="urn:microsoft.com/office/officeart/2005/8/layout/hList1"/>
    <dgm:cxn modelId="{CB65ACBB-A204-4047-B6ED-4CE86B5399A0}" type="presParOf" srcId="{D7B54F4E-B490-41C4-9962-6DC58C6828B2}" destId="{77A628A6-6527-4934-8CC9-698F41F3A9E7}" srcOrd="2" destOrd="0" presId="urn:microsoft.com/office/officeart/2005/8/layout/hList1"/>
    <dgm:cxn modelId="{FA019E5A-5715-477F-86EC-BF3EAF22B7AF}" type="presParOf" srcId="{77A628A6-6527-4934-8CC9-698F41F3A9E7}" destId="{D7ED2486-E31A-4877-989F-E08788F512EA}" srcOrd="0" destOrd="0" presId="urn:microsoft.com/office/officeart/2005/8/layout/hList1"/>
    <dgm:cxn modelId="{57BDCC7C-28F4-4BA9-AC3E-9E606412ACB0}" type="presParOf" srcId="{77A628A6-6527-4934-8CC9-698F41F3A9E7}" destId="{5DECCD2C-457F-4D72-A1AF-01390D068FC0}" srcOrd="1" destOrd="0" presId="urn:microsoft.com/office/officeart/2005/8/layout/hList1"/>
    <dgm:cxn modelId="{DD14CFE6-0C7D-48E7-9E13-B21F6E59A531}" type="presParOf" srcId="{D7B54F4E-B490-41C4-9962-6DC58C6828B2}" destId="{4940318C-C8F3-4F8E-B295-12330F4313FF}" srcOrd="3" destOrd="0" presId="urn:microsoft.com/office/officeart/2005/8/layout/hList1"/>
    <dgm:cxn modelId="{4C895CEE-AAF1-450F-9862-36FD430AAE81}" type="presParOf" srcId="{D7B54F4E-B490-41C4-9962-6DC58C6828B2}" destId="{B0964A6D-BC2D-4941-AA12-7E1E6371A2B6}" srcOrd="4" destOrd="0" presId="urn:microsoft.com/office/officeart/2005/8/layout/hList1"/>
    <dgm:cxn modelId="{771DD74F-C322-464C-993E-74D322771C4D}" type="presParOf" srcId="{B0964A6D-BC2D-4941-AA12-7E1E6371A2B6}" destId="{F4837703-3F15-4320-95FD-D982DF6697F7}" srcOrd="0" destOrd="0" presId="urn:microsoft.com/office/officeart/2005/8/layout/hList1"/>
    <dgm:cxn modelId="{D86ECC9C-E7EC-4BD1-90DD-DC8559A0474F}" type="presParOf" srcId="{B0964A6D-BC2D-4941-AA12-7E1E6371A2B6}" destId="{F5EC08D0-148B-4B53-9DA5-5CF602D67C5F}"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20808F73-4F0E-4D64-A3E0-FE623921631A}" type="doc">
      <dgm:prSet loTypeId="urn:microsoft.com/office/officeart/2005/8/layout/cycle1" loCatId="cycle" qsTypeId="urn:microsoft.com/office/officeart/2005/8/quickstyle/simple1" qsCatId="simple" csTypeId="urn:microsoft.com/office/officeart/2005/8/colors/accent1_2" csCatId="accent1" phldr="1"/>
      <dgm:spPr/>
      <dgm:t>
        <a:bodyPr/>
        <a:lstStyle/>
        <a:p>
          <a:endParaRPr lang="en-US"/>
        </a:p>
      </dgm:t>
    </dgm:pt>
    <dgm:pt modelId="{C1C8882D-22EA-47F1-83D2-37248EBF5699}">
      <dgm:prSet phldrT="[Text]" phldr="0" custT="1"/>
      <dgm:spPr/>
      <dgm:t>
        <a:bodyPr/>
        <a:lstStyle/>
        <a:p>
          <a:pPr rtl="0"/>
          <a:r>
            <a:rPr lang="en-US" sz="1800" b="1" dirty="0">
              <a:latin typeface="Times New Roman"/>
              <a:cs typeface="Times New Roman"/>
            </a:rPr>
            <a:t>Phase 2: Concurrency Developme</a:t>
          </a:r>
          <a:r>
            <a:rPr lang="en-US" sz="1800" b="1">
              <a:latin typeface="Times New Roman"/>
              <a:cs typeface="Times New Roman"/>
            </a:rPr>
            <a:t>nt &amp; Testing</a:t>
          </a:r>
          <a:endParaRPr lang="en-US" sz="1800" b="1" dirty="0">
            <a:latin typeface="Times New Roman"/>
            <a:cs typeface="Times New Roman"/>
          </a:endParaRPr>
        </a:p>
      </dgm:t>
    </dgm:pt>
    <dgm:pt modelId="{12F12333-9842-4F00-A085-F50BA236315C}" type="parTrans" cxnId="{807B11F0-CA2D-4361-9FAC-561785B8BEA3}">
      <dgm:prSet/>
      <dgm:spPr/>
      <dgm:t>
        <a:bodyPr/>
        <a:lstStyle/>
        <a:p>
          <a:endParaRPr lang="en-US"/>
        </a:p>
      </dgm:t>
    </dgm:pt>
    <dgm:pt modelId="{9502E08A-AF31-4E63-9CC3-C6686CC6E5A1}" type="sibTrans" cxnId="{807B11F0-CA2D-4361-9FAC-561785B8BEA3}">
      <dgm:prSet/>
      <dgm:spPr/>
      <dgm:t>
        <a:bodyPr/>
        <a:lstStyle/>
        <a:p>
          <a:endParaRPr lang="en-US"/>
        </a:p>
      </dgm:t>
    </dgm:pt>
    <dgm:pt modelId="{383DC138-C3CB-4971-8D6E-50D219A1A91A}">
      <dgm:prSet phldrT="[Text]" phldr="0"/>
      <dgm:spPr/>
      <dgm:t>
        <a:bodyPr/>
        <a:lstStyle/>
        <a:p>
          <a:pPr rtl="0"/>
          <a:r>
            <a:rPr lang="en-US" b="1">
              <a:latin typeface="Times New Roman"/>
              <a:cs typeface="Times New Roman"/>
            </a:rPr>
            <a:t>Phase 3: Sprint Review</a:t>
          </a:r>
          <a:endParaRPr lang="en-US" b="1" dirty="0">
            <a:latin typeface="Times New Roman"/>
            <a:cs typeface="Times New Roman"/>
          </a:endParaRPr>
        </a:p>
      </dgm:t>
    </dgm:pt>
    <dgm:pt modelId="{638C37A3-A4DD-437A-8FE0-5844DF98ACE2}" type="parTrans" cxnId="{B001FE3B-7948-489B-8882-6ED29F93B9E8}">
      <dgm:prSet/>
      <dgm:spPr/>
      <dgm:t>
        <a:bodyPr/>
        <a:lstStyle/>
        <a:p>
          <a:endParaRPr lang="en-US"/>
        </a:p>
      </dgm:t>
    </dgm:pt>
    <dgm:pt modelId="{1F3FC06A-0183-419F-B74B-AF7174530011}" type="sibTrans" cxnId="{B001FE3B-7948-489B-8882-6ED29F93B9E8}">
      <dgm:prSet/>
      <dgm:spPr/>
      <dgm:t>
        <a:bodyPr/>
        <a:lstStyle/>
        <a:p>
          <a:endParaRPr lang="en-US"/>
        </a:p>
      </dgm:t>
    </dgm:pt>
    <dgm:pt modelId="{25FC0B64-3F86-4E75-9E83-BE3559CDDDE7}">
      <dgm:prSet phldrT="[Text]" phldr="0"/>
      <dgm:spPr/>
      <dgm:t>
        <a:bodyPr/>
        <a:lstStyle/>
        <a:p>
          <a:pPr rtl="0"/>
          <a:r>
            <a:rPr lang="en-US" b="1" dirty="0">
              <a:latin typeface="Times New Roman"/>
              <a:cs typeface="Times New Roman"/>
            </a:rPr>
            <a:t>Phase 4: Sprint </a:t>
          </a:r>
          <a:r>
            <a:rPr lang="en-US" b="1">
              <a:latin typeface="Times New Roman"/>
              <a:cs typeface="Times New Roman"/>
            </a:rPr>
            <a:t>Retrospective</a:t>
          </a:r>
          <a:endParaRPr lang="en-US" b="1" dirty="0">
            <a:latin typeface="Times New Roman"/>
            <a:cs typeface="Times New Roman"/>
          </a:endParaRPr>
        </a:p>
      </dgm:t>
    </dgm:pt>
    <dgm:pt modelId="{90BB6720-9778-401A-9803-D2618FB13479}" type="parTrans" cxnId="{E7E4B6B7-4D9F-4BA8-9BB6-6E2D94D8068D}">
      <dgm:prSet/>
      <dgm:spPr/>
      <dgm:t>
        <a:bodyPr/>
        <a:lstStyle/>
        <a:p>
          <a:endParaRPr lang="en-US"/>
        </a:p>
      </dgm:t>
    </dgm:pt>
    <dgm:pt modelId="{B6D91997-8FAE-4571-B9C3-DEDDE23039F2}" type="sibTrans" cxnId="{E7E4B6B7-4D9F-4BA8-9BB6-6E2D94D8068D}">
      <dgm:prSet/>
      <dgm:spPr/>
      <dgm:t>
        <a:bodyPr/>
        <a:lstStyle/>
        <a:p>
          <a:endParaRPr lang="en-US"/>
        </a:p>
      </dgm:t>
    </dgm:pt>
    <dgm:pt modelId="{7F6B9D32-4BF6-49E6-9286-04C7BA024255}">
      <dgm:prSet phldrT="[Text]" phldr="0" custT="1"/>
      <dgm:spPr/>
      <dgm:t>
        <a:bodyPr/>
        <a:lstStyle/>
        <a:p>
          <a:pPr rtl="0"/>
          <a:r>
            <a:rPr lang="en-US" sz="1800" b="1">
              <a:latin typeface="Times New Roman"/>
              <a:ea typeface="Calibri"/>
              <a:cs typeface="Times New Roman"/>
            </a:rPr>
            <a:t>Phase 1: Sprint Planning</a:t>
          </a:r>
        </a:p>
      </dgm:t>
    </dgm:pt>
    <dgm:pt modelId="{5049C91F-1A3A-4DEE-96A8-B0065093E405}" type="parTrans" cxnId="{5A6A7DB5-79E9-43A2-BBCD-78951917F0B9}">
      <dgm:prSet/>
      <dgm:spPr/>
    </dgm:pt>
    <dgm:pt modelId="{499A155C-E06D-40D8-88C6-848C8C99419D}" type="sibTrans" cxnId="{5A6A7DB5-79E9-43A2-BBCD-78951917F0B9}">
      <dgm:prSet/>
      <dgm:spPr/>
    </dgm:pt>
    <dgm:pt modelId="{6A3514CF-BD7A-49A9-80B2-5EBB20155360}" type="pres">
      <dgm:prSet presAssocID="{20808F73-4F0E-4D64-A3E0-FE623921631A}" presName="cycle" presStyleCnt="0">
        <dgm:presLayoutVars>
          <dgm:dir/>
          <dgm:resizeHandles val="exact"/>
        </dgm:presLayoutVars>
      </dgm:prSet>
      <dgm:spPr/>
    </dgm:pt>
    <dgm:pt modelId="{EB72CA65-B40F-455E-9166-5D331147B678}" type="pres">
      <dgm:prSet presAssocID="{C1C8882D-22EA-47F1-83D2-37248EBF5699}" presName="dummy" presStyleCnt="0"/>
      <dgm:spPr/>
    </dgm:pt>
    <dgm:pt modelId="{FE63434F-2972-4A99-9E7A-36736ABEB23F}" type="pres">
      <dgm:prSet presAssocID="{C1C8882D-22EA-47F1-83D2-37248EBF5699}" presName="node" presStyleLbl="revTx" presStyleIdx="0" presStyleCnt="4">
        <dgm:presLayoutVars>
          <dgm:bulletEnabled val="1"/>
        </dgm:presLayoutVars>
      </dgm:prSet>
      <dgm:spPr/>
    </dgm:pt>
    <dgm:pt modelId="{1A9D37A8-0D0A-4DB5-8A6E-4F8855F47B68}" type="pres">
      <dgm:prSet presAssocID="{9502E08A-AF31-4E63-9CC3-C6686CC6E5A1}" presName="sibTrans" presStyleLbl="node1" presStyleIdx="0" presStyleCnt="4"/>
      <dgm:spPr/>
    </dgm:pt>
    <dgm:pt modelId="{87237EF6-C3F1-4008-9AD6-C8FFC00ABB75}" type="pres">
      <dgm:prSet presAssocID="{383DC138-C3CB-4971-8D6E-50D219A1A91A}" presName="dummy" presStyleCnt="0"/>
      <dgm:spPr/>
    </dgm:pt>
    <dgm:pt modelId="{06714ACD-7CB1-47C0-BC5A-E2B0CB1878AE}" type="pres">
      <dgm:prSet presAssocID="{383DC138-C3CB-4971-8D6E-50D219A1A91A}" presName="node" presStyleLbl="revTx" presStyleIdx="1" presStyleCnt="4">
        <dgm:presLayoutVars>
          <dgm:bulletEnabled val="1"/>
        </dgm:presLayoutVars>
      </dgm:prSet>
      <dgm:spPr/>
    </dgm:pt>
    <dgm:pt modelId="{0E67085F-112F-4430-88E5-0EFEDDCDC529}" type="pres">
      <dgm:prSet presAssocID="{1F3FC06A-0183-419F-B74B-AF7174530011}" presName="sibTrans" presStyleLbl="node1" presStyleIdx="1" presStyleCnt="4"/>
      <dgm:spPr/>
    </dgm:pt>
    <dgm:pt modelId="{1E3E3D92-9DA4-4B87-AC5E-6E54AC35F7E1}" type="pres">
      <dgm:prSet presAssocID="{25FC0B64-3F86-4E75-9E83-BE3559CDDDE7}" presName="dummy" presStyleCnt="0"/>
      <dgm:spPr/>
    </dgm:pt>
    <dgm:pt modelId="{D5A1862C-0385-4B64-A894-316FA5627BAC}" type="pres">
      <dgm:prSet presAssocID="{25FC0B64-3F86-4E75-9E83-BE3559CDDDE7}" presName="node" presStyleLbl="revTx" presStyleIdx="2" presStyleCnt="4">
        <dgm:presLayoutVars>
          <dgm:bulletEnabled val="1"/>
        </dgm:presLayoutVars>
      </dgm:prSet>
      <dgm:spPr/>
    </dgm:pt>
    <dgm:pt modelId="{33093DE4-883B-46D6-BE04-21C542BAA3BE}" type="pres">
      <dgm:prSet presAssocID="{B6D91997-8FAE-4571-B9C3-DEDDE23039F2}" presName="sibTrans" presStyleLbl="node1" presStyleIdx="2" presStyleCnt="4"/>
      <dgm:spPr/>
    </dgm:pt>
    <dgm:pt modelId="{FE6A77D4-40EC-475E-96BE-6E61E59EB7D8}" type="pres">
      <dgm:prSet presAssocID="{7F6B9D32-4BF6-49E6-9286-04C7BA024255}" presName="dummy" presStyleCnt="0"/>
      <dgm:spPr/>
    </dgm:pt>
    <dgm:pt modelId="{FFD1F20B-E9AC-4729-8BAB-1DAAE34BDC6E}" type="pres">
      <dgm:prSet presAssocID="{7F6B9D32-4BF6-49E6-9286-04C7BA024255}" presName="node" presStyleLbl="revTx" presStyleIdx="3" presStyleCnt="4">
        <dgm:presLayoutVars>
          <dgm:bulletEnabled val="1"/>
        </dgm:presLayoutVars>
      </dgm:prSet>
      <dgm:spPr/>
    </dgm:pt>
    <dgm:pt modelId="{E13A6CD5-DB18-47B6-8000-3855AE7ECB2B}" type="pres">
      <dgm:prSet presAssocID="{499A155C-E06D-40D8-88C6-848C8C99419D}" presName="sibTrans" presStyleLbl="node1" presStyleIdx="3" presStyleCnt="4"/>
      <dgm:spPr/>
    </dgm:pt>
  </dgm:ptLst>
  <dgm:cxnLst>
    <dgm:cxn modelId="{07A1B912-4B57-4D93-974D-B8CFA695E6AD}" type="presOf" srcId="{1F3FC06A-0183-419F-B74B-AF7174530011}" destId="{0E67085F-112F-4430-88E5-0EFEDDCDC529}" srcOrd="0" destOrd="0" presId="urn:microsoft.com/office/officeart/2005/8/layout/cycle1"/>
    <dgm:cxn modelId="{7199C020-6184-4F06-AEC8-7484A010DF25}" type="presOf" srcId="{499A155C-E06D-40D8-88C6-848C8C99419D}" destId="{E13A6CD5-DB18-47B6-8000-3855AE7ECB2B}" srcOrd="0" destOrd="0" presId="urn:microsoft.com/office/officeart/2005/8/layout/cycle1"/>
    <dgm:cxn modelId="{1DF57E39-F8B4-4990-9EC2-20C333047439}" type="presOf" srcId="{7F6B9D32-4BF6-49E6-9286-04C7BA024255}" destId="{FFD1F20B-E9AC-4729-8BAB-1DAAE34BDC6E}" srcOrd="0" destOrd="0" presId="urn:microsoft.com/office/officeart/2005/8/layout/cycle1"/>
    <dgm:cxn modelId="{B001FE3B-7948-489B-8882-6ED29F93B9E8}" srcId="{20808F73-4F0E-4D64-A3E0-FE623921631A}" destId="{383DC138-C3CB-4971-8D6E-50D219A1A91A}" srcOrd="1" destOrd="0" parTransId="{638C37A3-A4DD-437A-8FE0-5844DF98ACE2}" sibTransId="{1F3FC06A-0183-419F-B74B-AF7174530011}"/>
    <dgm:cxn modelId="{C57E7C47-BAED-4CE6-9ADB-D82A68B4A438}" type="presOf" srcId="{9502E08A-AF31-4E63-9CC3-C6686CC6E5A1}" destId="{1A9D37A8-0D0A-4DB5-8A6E-4F8855F47B68}" srcOrd="0" destOrd="0" presId="urn:microsoft.com/office/officeart/2005/8/layout/cycle1"/>
    <dgm:cxn modelId="{F9CF1B7C-BCA1-42E6-A7C7-299508C49B11}" type="presOf" srcId="{C1C8882D-22EA-47F1-83D2-37248EBF5699}" destId="{FE63434F-2972-4A99-9E7A-36736ABEB23F}" srcOrd="0" destOrd="0" presId="urn:microsoft.com/office/officeart/2005/8/layout/cycle1"/>
    <dgm:cxn modelId="{84A70285-359E-488C-9399-4F6BC3FB4F2F}" type="presOf" srcId="{25FC0B64-3F86-4E75-9E83-BE3559CDDDE7}" destId="{D5A1862C-0385-4B64-A894-316FA5627BAC}" srcOrd="0" destOrd="0" presId="urn:microsoft.com/office/officeart/2005/8/layout/cycle1"/>
    <dgm:cxn modelId="{B01DD796-E00D-42F1-8281-B3E5FCCA54A0}" type="presOf" srcId="{B6D91997-8FAE-4571-B9C3-DEDDE23039F2}" destId="{33093DE4-883B-46D6-BE04-21C542BAA3BE}" srcOrd="0" destOrd="0" presId="urn:microsoft.com/office/officeart/2005/8/layout/cycle1"/>
    <dgm:cxn modelId="{A907BDA6-E74F-4FA9-B7BC-1B82A9718667}" type="presOf" srcId="{20808F73-4F0E-4D64-A3E0-FE623921631A}" destId="{6A3514CF-BD7A-49A9-80B2-5EBB20155360}" srcOrd="0" destOrd="0" presId="urn:microsoft.com/office/officeart/2005/8/layout/cycle1"/>
    <dgm:cxn modelId="{5A6A7DB5-79E9-43A2-BBCD-78951917F0B9}" srcId="{20808F73-4F0E-4D64-A3E0-FE623921631A}" destId="{7F6B9D32-4BF6-49E6-9286-04C7BA024255}" srcOrd="3" destOrd="0" parTransId="{5049C91F-1A3A-4DEE-96A8-B0065093E405}" sibTransId="{499A155C-E06D-40D8-88C6-848C8C99419D}"/>
    <dgm:cxn modelId="{E7E4B6B7-4D9F-4BA8-9BB6-6E2D94D8068D}" srcId="{20808F73-4F0E-4D64-A3E0-FE623921631A}" destId="{25FC0B64-3F86-4E75-9E83-BE3559CDDDE7}" srcOrd="2" destOrd="0" parTransId="{90BB6720-9778-401A-9803-D2618FB13479}" sibTransId="{B6D91997-8FAE-4571-B9C3-DEDDE23039F2}"/>
    <dgm:cxn modelId="{F75F6DCF-E1B3-4DB2-A38C-A63BE83837C8}" type="presOf" srcId="{383DC138-C3CB-4971-8D6E-50D219A1A91A}" destId="{06714ACD-7CB1-47C0-BC5A-E2B0CB1878AE}" srcOrd="0" destOrd="0" presId="urn:microsoft.com/office/officeart/2005/8/layout/cycle1"/>
    <dgm:cxn modelId="{807B11F0-CA2D-4361-9FAC-561785B8BEA3}" srcId="{20808F73-4F0E-4D64-A3E0-FE623921631A}" destId="{C1C8882D-22EA-47F1-83D2-37248EBF5699}" srcOrd="0" destOrd="0" parTransId="{12F12333-9842-4F00-A085-F50BA236315C}" sibTransId="{9502E08A-AF31-4E63-9CC3-C6686CC6E5A1}"/>
    <dgm:cxn modelId="{A3C49631-1985-4896-B67D-DA076643F69E}" type="presParOf" srcId="{6A3514CF-BD7A-49A9-80B2-5EBB20155360}" destId="{EB72CA65-B40F-455E-9166-5D331147B678}" srcOrd="0" destOrd="0" presId="urn:microsoft.com/office/officeart/2005/8/layout/cycle1"/>
    <dgm:cxn modelId="{B6864A4E-218D-4E11-BFF2-A5D056161942}" type="presParOf" srcId="{6A3514CF-BD7A-49A9-80B2-5EBB20155360}" destId="{FE63434F-2972-4A99-9E7A-36736ABEB23F}" srcOrd="1" destOrd="0" presId="urn:microsoft.com/office/officeart/2005/8/layout/cycle1"/>
    <dgm:cxn modelId="{13DEC504-6F32-403A-AD03-C885F5862A2B}" type="presParOf" srcId="{6A3514CF-BD7A-49A9-80B2-5EBB20155360}" destId="{1A9D37A8-0D0A-4DB5-8A6E-4F8855F47B68}" srcOrd="2" destOrd="0" presId="urn:microsoft.com/office/officeart/2005/8/layout/cycle1"/>
    <dgm:cxn modelId="{7577C264-5F94-4C7F-B208-21D820F53206}" type="presParOf" srcId="{6A3514CF-BD7A-49A9-80B2-5EBB20155360}" destId="{87237EF6-C3F1-4008-9AD6-C8FFC00ABB75}" srcOrd="3" destOrd="0" presId="urn:microsoft.com/office/officeart/2005/8/layout/cycle1"/>
    <dgm:cxn modelId="{4A050FC4-E68E-43E7-A200-85919E81F50C}" type="presParOf" srcId="{6A3514CF-BD7A-49A9-80B2-5EBB20155360}" destId="{06714ACD-7CB1-47C0-BC5A-E2B0CB1878AE}" srcOrd="4" destOrd="0" presId="urn:microsoft.com/office/officeart/2005/8/layout/cycle1"/>
    <dgm:cxn modelId="{05D27D38-E34B-4FBA-BC4F-3447601465AD}" type="presParOf" srcId="{6A3514CF-BD7A-49A9-80B2-5EBB20155360}" destId="{0E67085F-112F-4430-88E5-0EFEDDCDC529}" srcOrd="5" destOrd="0" presId="urn:microsoft.com/office/officeart/2005/8/layout/cycle1"/>
    <dgm:cxn modelId="{D6150780-B0B4-49F2-AB8A-004CFFE3AAC8}" type="presParOf" srcId="{6A3514CF-BD7A-49A9-80B2-5EBB20155360}" destId="{1E3E3D92-9DA4-4B87-AC5E-6E54AC35F7E1}" srcOrd="6" destOrd="0" presId="urn:microsoft.com/office/officeart/2005/8/layout/cycle1"/>
    <dgm:cxn modelId="{E0533E9E-824B-4602-9DD7-44669A48F820}" type="presParOf" srcId="{6A3514CF-BD7A-49A9-80B2-5EBB20155360}" destId="{D5A1862C-0385-4B64-A894-316FA5627BAC}" srcOrd="7" destOrd="0" presId="urn:microsoft.com/office/officeart/2005/8/layout/cycle1"/>
    <dgm:cxn modelId="{A4C7BE47-36FB-4882-81B1-D880E447C233}" type="presParOf" srcId="{6A3514CF-BD7A-49A9-80B2-5EBB20155360}" destId="{33093DE4-883B-46D6-BE04-21C542BAA3BE}" srcOrd="8" destOrd="0" presId="urn:microsoft.com/office/officeart/2005/8/layout/cycle1"/>
    <dgm:cxn modelId="{7B23F73B-59B6-4BCC-88B9-E92A75CFEACE}" type="presParOf" srcId="{6A3514CF-BD7A-49A9-80B2-5EBB20155360}" destId="{FE6A77D4-40EC-475E-96BE-6E61E59EB7D8}" srcOrd="9" destOrd="0" presId="urn:microsoft.com/office/officeart/2005/8/layout/cycle1"/>
    <dgm:cxn modelId="{8A463348-26D3-4CC1-8AD7-F4C3AD596F02}" type="presParOf" srcId="{6A3514CF-BD7A-49A9-80B2-5EBB20155360}" destId="{FFD1F20B-E9AC-4729-8BAB-1DAAE34BDC6E}" srcOrd="10" destOrd="0" presId="urn:microsoft.com/office/officeart/2005/8/layout/cycle1"/>
    <dgm:cxn modelId="{0680EE35-2979-465D-8A67-89898F2F17C5}" type="presParOf" srcId="{6A3514CF-BD7A-49A9-80B2-5EBB20155360}" destId="{E13A6CD5-DB18-47B6-8000-3855AE7ECB2B}" srcOrd="11" destOrd="0" presId="urn:microsoft.com/office/officeart/2005/8/layout/cycle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1043DD12-DD97-4F89-8E98-15E4FA651645}" type="doc">
      <dgm:prSet loTypeId="urn:microsoft.com/office/officeart/2005/8/layout/hList1" loCatId="list" qsTypeId="urn:microsoft.com/office/officeart/2005/8/quickstyle/simple1" qsCatId="simple" csTypeId="urn:microsoft.com/office/officeart/2005/8/colors/colorful1" csCatId="colorful" phldr="1"/>
      <dgm:spPr/>
      <dgm:t>
        <a:bodyPr/>
        <a:lstStyle/>
        <a:p>
          <a:endParaRPr lang="en-US"/>
        </a:p>
      </dgm:t>
    </dgm:pt>
    <dgm:pt modelId="{E7F81C95-F0ED-405D-820C-308E1121E753}">
      <dgm:prSet phldrT="[Text]" phldr="0"/>
      <dgm:spPr/>
      <dgm:t>
        <a:bodyPr/>
        <a:lstStyle/>
        <a:p>
          <a:pPr rtl="0"/>
          <a:r>
            <a:rPr lang="en-US" b="1" dirty="0">
              <a:latin typeface="Times New Roman"/>
              <a:cs typeface="Times New Roman"/>
            </a:rPr>
            <a:t>When to choose Waterfall</a:t>
          </a:r>
        </a:p>
      </dgm:t>
    </dgm:pt>
    <dgm:pt modelId="{4996FF14-F325-492B-905A-478CB5B324C2}" type="parTrans" cxnId="{AC1DBC07-7D57-4605-9E25-910E0AC8C3B9}">
      <dgm:prSet/>
      <dgm:spPr/>
      <dgm:t>
        <a:bodyPr/>
        <a:lstStyle/>
        <a:p>
          <a:endParaRPr lang="en-US"/>
        </a:p>
      </dgm:t>
    </dgm:pt>
    <dgm:pt modelId="{AAE7BC89-F4C8-4AE0-AD6D-3EE6160A1AF8}" type="sibTrans" cxnId="{AC1DBC07-7D57-4605-9E25-910E0AC8C3B9}">
      <dgm:prSet/>
      <dgm:spPr/>
      <dgm:t>
        <a:bodyPr/>
        <a:lstStyle/>
        <a:p>
          <a:endParaRPr lang="en-US"/>
        </a:p>
      </dgm:t>
    </dgm:pt>
    <dgm:pt modelId="{B41C5989-D259-43D7-BB29-6D2BF2C53420}">
      <dgm:prSet phldrT="[Text]" phldr="0"/>
      <dgm:spPr/>
      <dgm:t>
        <a:bodyPr/>
        <a:lstStyle/>
        <a:p>
          <a:pPr algn="l"/>
          <a:r>
            <a:rPr lang="en-US" sz="1400" b="1" dirty="0">
              <a:latin typeface="Times New Roman"/>
              <a:cs typeface="Times New Roman"/>
            </a:rPr>
            <a:t>Custom </a:t>
          </a:r>
          <a:r>
            <a:rPr lang="en-US" sz="1400" dirty="0">
              <a:latin typeface="Times New Roman"/>
              <a:cs typeface="Times New Roman"/>
            </a:rPr>
            <a:t>software development with evolving user requirements and dynamic UI/UX needs.</a:t>
          </a:r>
        </a:p>
      </dgm:t>
    </dgm:pt>
    <dgm:pt modelId="{3A7590DE-347A-471E-BB42-6FF6BF1A59AC}" type="parTrans" cxnId="{12A66064-5D42-4EE7-9C12-1312CB917EE3}">
      <dgm:prSet/>
      <dgm:spPr/>
      <dgm:t>
        <a:bodyPr/>
        <a:lstStyle/>
        <a:p>
          <a:endParaRPr lang="en-US"/>
        </a:p>
      </dgm:t>
    </dgm:pt>
    <dgm:pt modelId="{6CFC4D40-6009-4A9F-9DDF-5F87FBA297EF}" type="sibTrans" cxnId="{12A66064-5D42-4EE7-9C12-1312CB917EE3}">
      <dgm:prSet/>
      <dgm:spPr/>
      <dgm:t>
        <a:bodyPr/>
        <a:lstStyle/>
        <a:p>
          <a:endParaRPr lang="en-US"/>
        </a:p>
      </dgm:t>
    </dgm:pt>
    <dgm:pt modelId="{EC873E4D-EDE2-46EA-BCA0-EEF680C220B3}">
      <dgm:prSet phldrT="[Text]" phldr="0"/>
      <dgm:spPr/>
      <dgm:t>
        <a:bodyPr/>
        <a:lstStyle/>
        <a:p>
          <a:pPr rtl="0"/>
          <a:r>
            <a:rPr lang="en-US" sz="1100" b="1" dirty="0">
              <a:latin typeface="Times New Roman"/>
              <a:cs typeface="Times New Roman"/>
            </a:rPr>
            <a:t>Predictable</a:t>
          </a:r>
          <a:r>
            <a:rPr lang="en-US" sz="1100" b="0" dirty="0">
              <a:latin typeface="Times New Roman"/>
              <a:cs typeface="Times New Roman"/>
            </a:rPr>
            <a:t>, linear hardware and</a:t>
          </a:r>
          <a:r>
            <a:rPr lang="en-US" sz="1100" dirty="0">
              <a:latin typeface="Times New Roman"/>
              <a:cs typeface="Times New Roman"/>
            </a:rPr>
            <a:t> IT infrastructure deployments where upfront planning ensures stability (Marquez, 2025).</a:t>
          </a:r>
        </a:p>
      </dgm:t>
    </dgm:pt>
    <dgm:pt modelId="{B11B975B-DDDB-4593-9F7A-89E74A17EA59}" type="parTrans" cxnId="{BD8BAD20-9BC8-4213-A377-19185BEA00B8}">
      <dgm:prSet/>
      <dgm:spPr/>
    </dgm:pt>
    <dgm:pt modelId="{D69431E2-29B8-44D7-A154-4D748D320D9D}" type="sibTrans" cxnId="{BD8BAD20-9BC8-4213-A377-19185BEA00B8}">
      <dgm:prSet/>
      <dgm:spPr/>
    </dgm:pt>
    <dgm:pt modelId="{A6A8515A-AD44-4BE9-8B60-A07D3F3B5084}">
      <dgm:prSet phldrT="[Text]" phldr="0"/>
      <dgm:spPr/>
      <dgm:t>
        <a:bodyPr/>
        <a:lstStyle/>
        <a:p>
          <a:pPr algn="l"/>
          <a:r>
            <a:rPr lang="en-US" sz="1400" b="1" dirty="0">
              <a:latin typeface="Times New Roman"/>
              <a:cs typeface="Times New Roman"/>
            </a:rPr>
            <a:t>Projects </a:t>
          </a:r>
          <a:r>
            <a:rPr lang="en-US" sz="1400" b="0" dirty="0">
              <a:latin typeface="Times New Roman"/>
              <a:cs typeface="Times New Roman"/>
            </a:rPr>
            <a:t>requiring rapid time-to-market, continuous customer feedback, and cross-functional innovation.</a:t>
          </a:r>
          <a:br>
            <a:rPr lang="en-US" sz="1400" b="0" dirty="0">
              <a:latin typeface="Times New Roman"/>
              <a:cs typeface="Times New Roman"/>
            </a:rPr>
          </a:br>
          <a:endParaRPr lang="en-US" sz="1400" dirty="0">
            <a:latin typeface="Times New Roman"/>
            <a:cs typeface="Times New Roman"/>
          </a:endParaRPr>
        </a:p>
      </dgm:t>
    </dgm:pt>
    <dgm:pt modelId="{BAB87710-401F-46EE-8519-525948BEE914}" type="parTrans" cxnId="{BEEA035F-3E00-4B3A-8BF7-9B03D08D5D70}">
      <dgm:prSet/>
      <dgm:spPr/>
    </dgm:pt>
    <dgm:pt modelId="{72CDEB60-CD4D-4288-8719-6BBEE623670F}" type="sibTrans" cxnId="{BEEA035F-3E00-4B3A-8BF7-9B03D08D5D70}">
      <dgm:prSet/>
      <dgm:spPr/>
    </dgm:pt>
    <dgm:pt modelId="{EFBB0E3F-5452-4887-B41E-529B3E2BAA17}">
      <dgm:prSet phldrT="[Text]" phldr="0"/>
      <dgm:spPr/>
      <dgm:t>
        <a:bodyPr/>
        <a:lstStyle/>
        <a:p>
          <a:pPr rtl="0"/>
          <a:r>
            <a:rPr lang="en-US" sz="1400" b="1" dirty="0">
              <a:latin typeface="Times New Roman"/>
              <a:cs typeface="Times New Roman"/>
            </a:rPr>
            <a:t>Fixed</a:t>
          </a:r>
          <a:r>
            <a:rPr lang="en-US" sz="1400" b="0" dirty="0">
              <a:latin typeface="Times New Roman"/>
              <a:cs typeface="Times New Roman"/>
            </a:rPr>
            <a:t>, unalterable regulatory requirements or static contract scopes.</a:t>
          </a:r>
        </a:p>
      </dgm:t>
    </dgm:pt>
    <dgm:pt modelId="{AFF486EB-7D50-452B-93C6-8CC256AE7DE7}" type="parTrans" cxnId="{121A3073-89AC-469A-82E6-57CFA4C21819}">
      <dgm:prSet/>
      <dgm:spPr/>
    </dgm:pt>
    <dgm:pt modelId="{3FEB9EAD-A591-450A-A410-453772EBDA3C}" type="sibTrans" cxnId="{121A3073-89AC-469A-82E6-57CFA4C21819}">
      <dgm:prSet/>
      <dgm:spPr/>
    </dgm:pt>
    <dgm:pt modelId="{58196350-934B-49A2-9B03-4CA8677A7632}">
      <dgm:prSet phldrT="[Text]" phldr="0"/>
      <dgm:spPr/>
      <dgm:t>
        <a:bodyPr/>
        <a:lstStyle/>
        <a:p>
          <a:pPr rtl="0"/>
          <a:r>
            <a:rPr lang="en-US" dirty="0">
              <a:latin typeface="Times New Roman"/>
              <a:cs typeface="Times New Roman"/>
            </a:rPr>
            <a:t>When to Deploy Agile / Scrum:</a:t>
          </a:r>
          <a:endParaRPr lang="en-US" dirty="0">
            <a:latin typeface="Times New Roman"/>
            <a:ea typeface="Calibri"/>
            <a:cs typeface="Times New Roman"/>
          </a:endParaRPr>
        </a:p>
      </dgm:t>
    </dgm:pt>
    <dgm:pt modelId="{EA82885E-C361-41FA-BFDF-B315054933CE}" type="parTrans" cxnId="{DACC233C-A213-4EEA-A3BF-80C67A3177C3}">
      <dgm:prSet/>
      <dgm:spPr/>
    </dgm:pt>
    <dgm:pt modelId="{0AB6F804-B350-46FD-A95F-01BDA6F48245}" type="sibTrans" cxnId="{DACC233C-A213-4EEA-A3BF-80C67A3177C3}">
      <dgm:prSet/>
      <dgm:spPr/>
    </dgm:pt>
    <dgm:pt modelId="{D7B54F4E-B490-41C4-9962-6DC58C6828B2}" type="pres">
      <dgm:prSet presAssocID="{1043DD12-DD97-4F89-8E98-15E4FA651645}" presName="Name0" presStyleCnt="0">
        <dgm:presLayoutVars>
          <dgm:dir/>
          <dgm:animLvl val="lvl"/>
          <dgm:resizeHandles val="exact"/>
        </dgm:presLayoutVars>
      </dgm:prSet>
      <dgm:spPr/>
    </dgm:pt>
    <dgm:pt modelId="{E0F01F24-FB75-4E67-AC16-D65C63A36826}" type="pres">
      <dgm:prSet presAssocID="{E7F81C95-F0ED-405D-820C-308E1121E753}" presName="composite" presStyleCnt="0"/>
      <dgm:spPr/>
    </dgm:pt>
    <dgm:pt modelId="{CF408B11-097F-4B6D-9AFC-0928459F03A7}" type="pres">
      <dgm:prSet presAssocID="{E7F81C95-F0ED-405D-820C-308E1121E753}" presName="parTx" presStyleLbl="alignNode1" presStyleIdx="0" presStyleCnt="2">
        <dgm:presLayoutVars>
          <dgm:chMax val="0"/>
          <dgm:chPref val="0"/>
          <dgm:bulletEnabled val="1"/>
        </dgm:presLayoutVars>
      </dgm:prSet>
      <dgm:spPr/>
    </dgm:pt>
    <dgm:pt modelId="{EA8332B2-8B87-41BD-9E6C-03F71A5B60C2}" type="pres">
      <dgm:prSet presAssocID="{E7F81C95-F0ED-405D-820C-308E1121E753}" presName="desTx" presStyleLbl="alignAccFollowNode1" presStyleIdx="0" presStyleCnt="2">
        <dgm:presLayoutVars>
          <dgm:bulletEnabled val="1"/>
        </dgm:presLayoutVars>
      </dgm:prSet>
      <dgm:spPr/>
    </dgm:pt>
    <dgm:pt modelId="{87F0271F-E9EC-4931-98EB-1C135DE5887A}" type="pres">
      <dgm:prSet presAssocID="{AAE7BC89-F4C8-4AE0-AD6D-3EE6160A1AF8}" presName="space" presStyleCnt="0"/>
      <dgm:spPr/>
    </dgm:pt>
    <dgm:pt modelId="{0A26E7D6-9563-415D-9CAC-A57ED264D12A}" type="pres">
      <dgm:prSet presAssocID="{58196350-934B-49A2-9B03-4CA8677A7632}" presName="composite" presStyleCnt="0"/>
      <dgm:spPr/>
    </dgm:pt>
    <dgm:pt modelId="{71CC5945-842B-4B2F-B07D-5592B12F9774}" type="pres">
      <dgm:prSet presAssocID="{58196350-934B-49A2-9B03-4CA8677A7632}" presName="parTx" presStyleLbl="alignNode1" presStyleIdx="1" presStyleCnt="2">
        <dgm:presLayoutVars>
          <dgm:chMax val="0"/>
          <dgm:chPref val="0"/>
          <dgm:bulletEnabled val="1"/>
        </dgm:presLayoutVars>
      </dgm:prSet>
      <dgm:spPr/>
    </dgm:pt>
    <dgm:pt modelId="{C1C25971-1BB3-436F-9E07-FA55F50C7EF4}" type="pres">
      <dgm:prSet presAssocID="{58196350-934B-49A2-9B03-4CA8677A7632}" presName="desTx" presStyleLbl="alignAccFollowNode1" presStyleIdx="1" presStyleCnt="2">
        <dgm:presLayoutVars>
          <dgm:bulletEnabled val="1"/>
        </dgm:presLayoutVars>
      </dgm:prSet>
      <dgm:spPr/>
    </dgm:pt>
  </dgm:ptLst>
  <dgm:cxnLst>
    <dgm:cxn modelId="{AC1DBC07-7D57-4605-9E25-910E0AC8C3B9}" srcId="{1043DD12-DD97-4F89-8E98-15E4FA651645}" destId="{E7F81C95-F0ED-405D-820C-308E1121E753}" srcOrd="0" destOrd="0" parTransId="{4996FF14-F325-492B-905A-478CB5B324C2}" sibTransId="{AAE7BC89-F4C8-4AE0-AD6D-3EE6160A1AF8}"/>
    <dgm:cxn modelId="{BD8BAD20-9BC8-4213-A377-19185BEA00B8}" srcId="{E7F81C95-F0ED-405D-820C-308E1121E753}" destId="{EC873E4D-EDE2-46EA-BCA0-EEF680C220B3}" srcOrd="1" destOrd="0" parTransId="{B11B975B-DDDB-4593-9F7A-89E74A17EA59}" sibTransId="{D69431E2-29B8-44D7-A154-4D748D320D9D}"/>
    <dgm:cxn modelId="{DACC233C-A213-4EEA-A3BF-80C67A3177C3}" srcId="{1043DD12-DD97-4F89-8E98-15E4FA651645}" destId="{58196350-934B-49A2-9B03-4CA8677A7632}" srcOrd="1" destOrd="0" parTransId="{EA82885E-C361-41FA-BFDF-B315054933CE}" sibTransId="{0AB6F804-B350-46FD-A95F-01BDA6F48245}"/>
    <dgm:cxn modelId="{BEEA035F-3E00-4B3A-8BF7-9B03D08D5D70}" srcId="{58196350-934B-49A2-9B03-4CA8677A7632}" destId="{A6A8515A-AD44-4BE9-8B60-A07D3F3B5084}" srcOrd="1" destOrd="0" parTransId="{BAB87710-401F-46EE-8519-525948BEE914}" sibTransId="{72CDEB60-CD4D-4288-8719-6BBEE623670F}"/>
    <dgm:cxn modelId="{7BB71B64-35E6-4F56-A51D-A8F3E3509976}" type="presOf" srcId="{A6A8515A-AD44-4BE9-8B60-A07D3F3B5084}" destId="{C1C25971-1BB3-436F-9E07-FA55F50C7EF4}" srcOrd="0" destOrd="1" presId="urn:microsoft.com/office/officeart/2005/8/layout/hList1"/>
    <dgm:cxn modelId="{12A66064-5D42-4EE7-9C12-1312CB917EE3}" srcId="{58196350-934B-49A2-9B03-4CA8677A7632}" destId="{B41C5989-D259-43D7-BB29-6D2BF2C53420}" srcOrd="0" destOrd="0" parTransId="{3A7590DE-347A-471E-BB42-6FF6BF1A59AC}" sibTransId="{6CFC4D40-6009-4A9F-9DDF-5F87FBA297EF}"/>
    <dgm:cxn modelId="{121A3073-89AC-469A-82E6-57CFA4C21819}" srcId="{E7F81C95-F0ED-405D-820C-308E1121E753}" destId="{EFBB0E3F-5452-4887-B41E-529B3E2BAA17}" srcOrd="0" destOrd="0" parTransId="{AFF486EB-7D50-452B-93C6-8CC256AE7DE7}" sibTransId="{3FEB9EAD-A591-450A-A410-453772EBDA3C}"/>
    <dgm:cxn modelId="{3DDECC8A-6A69-44D5-8430-36B47E0EE39B}" type="presOf" srcId="{58196350-934B-49A2-9B03-4CA8677A7632}" destId="{71CC5945-842B-4B2F-B07D-5592B12F9774}" srcOrd="0" destOrd="0" presId="urn:microsoft.com/office/officeart/2005/8/layout/hList1"/>
    <dgm:cxn modelId="{3CF2918E-6341-4194-BAE0-58AFC3166EA8}" type="presOf" srcId="{E7F81C95-F0ED-405D-820C-308E1121E753}" destId="{CF408B11-097F-4B6D-9AFC-0928459F03A7}" srcOrd="0" destOrd="0" presId="urn:microsoft.com/office/officeart/2005/8/layout/hList1"/>
    <dgm:cxn modelId="{D4EE7B9C-3E04-41AA-B76B-332C82EF637E}" type="presOf" srcId="{EC873E4D-EDE2-46EA-BCA0-EEF680C220B3}" destId="{EA8332B2-8B87-41BD-9E6C-03F71A5B60C2}" srcOrd="0" destOrd="1" presId="urn:microsoft.com/office/officeart/2005/8/layout/hList1"/>
    <dgm:cxn modelId="{373C8FA5-31B0-4EC4-AAE9-77DACAD9ACC0}" type="presOf" srcId="{1043DD12-DD97-4F89-8E98-15E4FA651645}" destId="{D7B54F4E-B490-41C4-9962-6DC58C6828B2}" srcOrd="0" destOrd="0" presId="urn:microsoft.com/office/officeart/2005/8/layout/hList1"/>
    <dgm:cxn modelId="{94EB63B0-EC37-4242-B45A-EABCAE51A126}" type="presOf" srcId="{B41C5989-D259-43D7-BB29-6D2BF2C53420}" destId="{C1C25971-1BB3-436F-9E07-FA55F50C7EF4}" srcOrd="0" destOrd="0" presId="urn:microsoft.com/office/officeart/2005/8/layout/hList1"/>
    <dgm:cxn modelId="{AB3A31C5-29EB-4B12-A5C8-E1B0C2B6A04A}" type="presOf" srcId="{EFBB0E3F-5452-4887-B41E-529B3E2BAA17}" destId="{EA8332B2-8B87-41BD-9E6C-03F71A5B60C2}" srcOrd="0" destOrd="0" presId="urn:microsoft.com/office/officeart/2005/8/layout/hList1"/>
    <dgm:cxn modelId="{35826239-AB05-4C6E-8F2D-C8559B389EC1}" type="presParOf" srcId="{D7B54F4E-B490-41C4-9962-6DC58C6828B2}" destId="{E0F01F24-FB75-4E67-AC16-D65C63A36826}" srcOrd="0" destOrd="0" presId="urn:microsoft.com/office/officeart/2005/8/layout/hList1"/>
    <dgm:cxn modelId="{0A1A17CC-A6DE-48AF-ACFE-20B17C13BD1E}" type="presParOf" srcId="{E0F01F24-FB75-4E67-AC16-D65C63A36826}" destId="{CF408B11-097F-4B6D-9AFC-0928459F03A7}" srcOrd="0" destOrd="0" presId="urn:microsoft.com/office/officeart/2005/8/layout/hList1"/>
    <dgm:cxn modelId="{C08D3EE4-DEA0-451A-9701-06AC7E72755A}" type="presParOf" srcId="{E0F01F24-FB75-4E67-AC16-D65C63A36826}" destId="{EA8332B2-8B87-41BD-9E6C-03F71A5B60C2}" srcOrd="1" destOrd="0" presId="urn:microsoft.com/office/officeart/2005/8/layout/hList1"/>
    <dgm:cxn modelId="{09288036-97A3-4116-ACAE-461BD18DA72F}" type="presParOf" srcId="{D7B54F4E-B490-41C4-9962-6DC58C6828B2}" destId="{87F0271F-E9EC-4931-98EB-1C135DE5887A}" srcOrd="1" destOrd="0" presId="urn:microsoft.com/office/officeart/2005/8/layout/hList1"/>
    <dgm:cxn modelId="{1E6B699B-99CA-4A7A-82EB-6F4A6CB58C5B}" type="presParOf" srcId="{D7B54F4E-B490-41C4-9962-6DC58C6828B2}" destId="{0A26E7D6-9563-415D-9CAC-A57ED264D12A}" srcOrd="2" destOrd="0" presId="urn:microsoft.com/office/officeart/2005/8/layout/hList1"/>
    <dgm:cxn modelId="{21CD8492-4314-4792-AB29-31C20A6509B5}" type="presParOf" srcId="{0A26E7D6-9563-415D-9CAC-A57ED264D12A}" destId="{71CC5945-842B-4B2F-B07D-5592B12F9774}" srcOrd="0" destOrd="0" presId="urn:microsoft.com/office/officeart/2005/8/layout/hList1"/>
    <dgm:cxn modelId="{6E97EFFC-F4D8-47DE-9446-78FAC5D9EA2E}" type="presParOf" srcId="{0A26E7D6-9563-415D-9CAC-A57ED264D12A}" destId="{C1C25971-1BB3-436F-9E07-FA55F50C7EF4}"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F408B11-097F-4B6D-9AFC-0928459F03A7}">
      <dsp:nvSpPr>
        <dsp:cNvPr id="0" name=""/>
        <dsp:cNvSpPr/>
      </dsp:nvSpPr>
      <dsp:spPr>
        <a:xfrm>
          <a:off x="3682" y="318497"/>
          <a:ext cx="3590823" cy="686126"/>
        </a:xfrm>
        <a:prstGeom prst="rect">
          <a:avLst/>
        </a:prstGeom>
        <a:solidFill>
          <a:schemeClr val="accent2">
            <a:hueOff val="0"/>
            <a:satOff val="0"/>
            <a:lumOff val="0"/>
            <a:alphaOff val="0"/>
          </a:schemeClr>
        </a:solidFill>
        <a:ln w="15875" cap="rnd"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5128" tIns="77216" rIns="135128" bIns="77216" numCol="1" spcCol="1270" anchor="ctr" anchorCtr="0">
          <a:noAutofit/>
        </a:bodyPr>
        <a:lstStyle/>
        <a:p>
          <a:pPr marL="0" lvl="0" indent="0" algn="ctr" defTabSz="844550" rtl="0">
            <a:lnSpc>
              <a:spcPct val="90000"/>
            </a:lnSpc>
            <a:spcBef>
              <a:spcPct val="0"/>
            </a:spcBef>
            <a:spcAft>
              <a:spcPct val="35000"/>
            </a:spcAft>
            <a:buNone/>
          </a:pPr>
          <a:r>
            <a:rPr lang="en-US" sz="1900" kern="1200">
              <a:latin typeface="Century Gothic" panose="020B0502020202020204"/>
            </a:rPr>
            <a:t>Product Owner(Value Maximizer)</a:t>
          </a:r>
          <a:endParaRPr lang="en-US" sz="1900" kern="1200"/>
        </a:p>
      </dsp:txBody>
      <dsp:txXfrm>
        <a:off x="3682" y="318497"/>
        <a:ext cx="3590823" cy="686126"/>
      </dsp:txXfrm>
    </dsp:sp>
    <dsp:sp modelId="{EA8332B2-8B87-41BD-9E6C-03F71A5B60C2}">
      <dsp:nvSpPr>
        <dsp:cNvPr id="0" name=""/>
        <dsp:cNvSpPr/>
      </dsp:nvSpPr>
      <dsp:spPr>
        <a:xfrm>
          <a:off x="3682" y="1004623"/>
          <a:ext cx="3590823" cy="5112004"/>
        </a:xfrm>
        <a:prstGeom prst="rect">
          <a:avLst/>
        </a:prstGeom>
        <a:solidFill>
          <a:schemeClr val="accent2">
            <a:tint val="40000"/>
            <a:alpha val="90000"/>
            <a:hueOff val="0"/>
            <a:satOff val="0"/>
            <a:lumOff val="0"/>
            <a:alphaOff val="0"/>
          </a:schemeClr>
        </a:solidFill>
        <a:ln w="15875" cap="rnd" cmpd="sng" algn="ctr">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01346" tIns="101346" rIns="135128" bIns="152019" numCol="1" spcCol="1270" anchor="t" anchorCtr="0">
          <a:noAutofit/>
        </a:bodyPr>
        <a:lstStyle/>
        <a:p>
          <a:pPr marL="171450" lvl="1" indent="-171450" algn="l" defTabSz="844550">
            <a:lnSpc>
              <a:spcPct val="90000"/>
            </a:lnSpc>
            <a:spcBef>
              <a:spcPct val="0"/>
            </a:spcBef>
            <a:spcAft>
              <a:spcPct val="15000"/>
            </a:spcAft>
            <a:buChar char="•"/>
          </a:pPr>
          <a:r>
            <a:rPr lang="en-US" sz="1900" b="1" kern="1200" dirty="0">
              <a:latin typeface="Arial"/>
              <a:cs typeface="Arial"/>
            </a:rPr>
            <a:t>Backlog Ownership:</a:t>
          </a:r>
          <a:r>
            <a:rPr lang="en-US" sz="1900" kern="1200" dirty="0">
              <a:latin typeface="Arial"/>
              <a:cs typeface="Arial"/>
            </a:rPr>
            <a:t> Defines product vision and maintains/prioritizes the Product </a:t>
          </a:r>
          <a:r>
            <a:rPr lang="en-US" sz="1900" kern="1200">
              <a:latin typeface="Arial"/>
              <a:cs typeface="Arial"/>
            </a:rPr>
            <a:t>Backlog.</a:t>
          </a:r>
          <a:endParaRPr lang="en-US" sz="1900" kern="1200" dirty="0">
            <a:latin typeface="Arial"/>
            <a:cs typeface="Arial"/>
          </a:endParaRPr>
        </a:p>
        <a:p>
          <a:pPr marL="171450" lvl="1" indent="-171450" algn="l" defTabSz="844550" rtl="0">
            <a:lnSpc>
              <a:spcPct val="90000"/>
            </a:lnSpc>
            <a:spcBef>
              <a:spcPct val="0"/>
            </a:spcBef>
            <a:spcAft>
              <a:spcPct val="15000"/>
            </a:spcAft>
            <a:buChar char="•"/>
          </a:pPr>
          <a:r>
            <a:rPr lang="en-US" sz="1900" b="1" kern="1200" dirty="0"/>
            <a:t>Value Delivery:</a:t>
          </a:r>
          <a:r>
            <a:rPr lang="en-US" sz="1900" kern="1200" dirty="0"/>
            <a:t> Translates stakeholder goals into granular user stories with strict acceptance criteria.</a:t>
          </a:r>
          <a:endParaRPr lang="en-US" sz="1900" kern="1200" dirty="0">
            <a:latin typeface="Arial"/>
            <a:cs typeface="Arial"/>
          </a:endParaRPr>
        </a:p>
        <a:p>
          <a:pPr marL="171450" lvl="1" indent="-171450" algn="l" defTabSz="844550" rtl="0">
            <a:lnSpc>
              <a:spcPct val="90000"/>
            </a:lnSpc>
            <a:spcBef>
              <a:spcPct val="0"/>
            </a:spcBef>
            <a:spcAft>
              <a:spcPct val="15000"/>
            </a:spcAft>
            <a:buChar char="•"/>
          </a:pPr>
          <a:r>
            <a:rPr lang="en-US" sz="1900" b="1" kern="1200" dirty="0"/>
            <a:t>ROI Focus:</a:t>
          </a:r>
          <a:r>
            <a:rPr lang="en-US" sz="1900" kern="1200" dirty="0"/>
            <a:t> Prevents scope creep and ensures engineering work targets high-value features first.</a:t>
          </a:r>
          <a:endParaRPr lang="en-US" sz="1900" kern="1200" dirty="0">
            <a:latin typeface="Century Gothic" panose="020B0502020202020204"/>
          </a:endParaRPr>
        </a:p>
      </dsp:txBody>
      <dsp:txXfrm>
        <a:off x="3682" y="1004623"/>
        <a:ext cx="3590823" cy="5112004"/>
      </dsp:txXfrm>
    </dsp:sp>
    <dsp:sp modelId="{D7ED2486-E31A-4877-989F-E08788F512EA}">
      <dsp:nvSpPr>
        <dsp:cNvPr id="0" name=""/>
        <dsp:cNvSpPr/>
      </dsp:nvSpPr>
      <dsp:spPr>
        <a:xfrm>
          <a:off x="4097222" y="318497"/>
          <a:ext cx="3590823" cy="686126"/>
        </a:xfrm>
        <a:prstGeom prst="rect">
          <a:avLst/>
        </a:prstGeom>
        <a:solidFill>
          <a:schemeClr val="accent3">
            <a:hueOff val="0"/>
            <a:satOff val="0"/>
            <a:lumOff val="0"/>
            <a:alphaOff val="0"/>
          </a:schemeClr>
        </a:solidFill>
        <a:ln w="15875" cap="rnd"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5128" tIns="77216" rIns="135128" bIns="77216" numCol="1" spcCol="1270" anchor="ctr" anchorCtr="0">
          <a:noAutofit/>
        </a:bodyPr>
        <a:lstStyle/>
        <a:p>
          <a:pPr marL="0" lvl="0" indent="0" algn="ctr" defTabSz="844550" rtl="0">
            <a:lnSpc>
              <a:spcPct val="90000"/>
            </a:lnSpc>
            <a:spcBef>
              <a:spcPct val="0"/>
            </a:spcBef>
            <a:spcAft>
              <a:spcPct val="35000"/>
            </a:spcAft>
            <a:buNone/>
          </a:pPr>
          <a:r>
            <a:rPr lang="en-US" sz="1900" kern="1200">
              <a:latin typeface="Century Gothic" panose="020B0502020202020204"/>
            </a:rPr>
            <a:t>Scrum Master (Servant Leader )</a:t>
          </a:r>
          <a:endParaRPr lang="en-US" sz="1900" kern="1200">
            <a:latin typeface="Calibri"/>
            <a:ea typeface="Calibri"/>
            <a:cs typeface="Calibri"/>
          </a:endParaRPr>
        </a:p>
      </dsp:txBody>
      <dsp:txXfrm>
        <a:off x="4097222" y="318497"/>
        <a:ext cx="3590823" cy="686126"/>
      </dsp:txXfrm>
    </dsp:sp>
    <dsp:sp modelId="{5DECCD2C-457F-4D72-A1AF-01390D068FC0}">
      <dsp:nvSpPr>
        <dsp:cNvPr id="0" name=""/>
        <dsp:cNvSpPr/>
      </dsp:nvSpPr>
      <dsp:spPr>
        <a:xfrm>
          <a:off x="4097222" y="1004623"/>
          <a:ext cx="3590823" cy="5112004"/>
        </a:xfrm>
        <a:prstGeom prst="rect">
          <a:avLst/>
        </a:prstGeom>
        <a:solidFill>
          <a:schemeClr val="accent3">
            <a:tint val="40000"/>
            <a:alpha val="90000"/>
            <a:hueOff val="0"/>
            <a:satOff val="0"/>
            <a:lumOff val="0"/>
            <a:alphaOff val="0"/>
          </a:schemeClr>
        </a:solidFill>
        <a:ln w="15875" cap="rnd" cmpd="sng" algn="ctr">
          <a:solidFill>
            <a:schemeClr val="accent3">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01346" tIns="101346" rIns="135128" bIns="152019" numCol="1" spcCol="1270" anchor="t" anchorCtr="0">
          <a:noAutofit/>
        </a:bodyPr>
        <a:lstStyle/>
        <a:p>
          <a:pPr marL="171450" lvl="1" indent="-171450" algn="l" defTabSz="844550" rtl="0">
            <a:lnSpc>
              <a:spcPct val="90000"/>
            </a:lnSpc>
            <a:spcBef>
              <a:spcPct val="0"/>
            </a:spcBef>
            <a:spcAft>
              <a:spcPct val="15000"/>
            </a:spcAft>
            <a:buChar char="•"/>
          </a:pPr>
          <a:r>
            <a:rPr lang="en-US" sz="1900" b="1" kern="1200" dirty="0"/>
            <a:t>Facilitation &amp; Coaching:</a:t>
          </a:r>
          <a:r>
            <a:rPr lang="en-US" sz="1900" kern="1200" dirty="0"/>
            <a:t> Shields the team from external disruptions and coaches members on Scrum practices.</a:t>
          </a:r>
        </a:p>
        <a:p>
          <a:pPr marL="171450" lvl="1" indent="-171450" algn="l" defTabSz="844550" rtl="0">
            <a:lnSpc>
              <a:spcPct val="90000"/>
            </a:lnSpc>
            <a:spcBef>
              <a:spcPct val="0"/>
            </a:spcBef>
            <a:spcAft>
              <a:spcPct val="15000"/>
            </a:spcAft>
            <a:buChar char="•"/>
          </a:pPr>
          <a:r>
            <a:rPr lang="en-US" sz="1900" b="1" kern="1200" dirty="0"/>
            <a:t>Impediment Removal:</a:t>
          </a:r>
          <a:r>
            <a:rPr lang="en-US" sz="1900" kern="1200" dirty="0"/>
            <a:t> Proactively identifies and clears workflow bottlenecks and dependencies.</a:t>
          </a:r>
          <a:endParaRPr lang="en-US" sz="1900" kern="1200" dirty="0">
            <a:latin typeface="Century Gothic" panose="020B0502020202020204"/>
          </a:endParaRPr>
        </a:p>
        <a:p>
          <a:pPr marL="171450" lvl="1" indent="-171450" algn="l" defTabSz="844550" rtl="0">
            <a:lnSpc>
              <a:spcPct val="90000"/>
            </a:lnSpc>
            <a:spcBef>
              <a:spcPct val="0"/>
            </a:spcBef>
            <a:spcAft>
              <a:spcPct val="15000"/>
            </a:spcAft>
            <a:buChar char="•"/>
          </a:pPr>
          <a:r>
            <a:rPr lang="en-US" sz="1900" b="1" kern="1200" dirty="0"/>
            <a:t>Empirical Rigor:</a:t>
          </a:r>
          <a:r>
            <a:rPr lang="en-US" sz="1900" kern="1200" dirty="0"/>
            <a:t> Research demonstrates that active Scrum Masters significantly increase adherence to Agile practices (Shastri et al., 2021).</a:t>
          </a:r>
          <a:endParaRPr lang="en-US" sz="1900" kern="1200" dirty="0">
            <a:latin typeface="Century Gothic" panose="020B0502020202020204"/>
          </a:endParaRPr>
        </a:p>
      </dsp:txBody>
      <dsp:txXfrm>
        <a:off x="4097222" y="1004623"/>
        <a:ext cx="3590823" cy="5112004"/>
      </dsp:txXfrm>
    </dsp:sp>
    <dsp:sp modelId="{F4837703-3F15-4320-95FD-D982DF6697F7}">
      <dsp:nvSpPr>
        <dsp:cNvPr id="0" name=""/>
        <dsp:cNvSpPr/>
      </dsp:nvSpPr>
      <dsp:spPr>
        <a:xfrm>
          <a:off x="8190761" y="318497"/>
          <a:ext cx="3590823" cy="686126"/>
        </a:xfrm>
        <a:prstGeom prst="rect">
          <a:avLst/>
        </a:prstGeom>
        <a:solidFill>
          <a:schemeClr val="accent4">
            <a:hueOff val="0"/>
            <a:satOff val="0"/>
            <a:lumOff val="0"/>
            <a:alphaOff val="0"/>
          </a:schemeClr>
        </a:solidFill>
        <a:ln w="15875" cap="rnd"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5128" tIns="77216" rIns="135128" bIns="77216" numCol="1" spcCol="1270" anchor="ctr" anchorCtr="0">
          <a:noAutofit/>
        </a:bodyPr>
        <a:lstStyle/>
        <a:p>
          <a:pPr marL="0" lvl="0" indent="0" algn="ctr" defTabSz="844550" rtl="0">
            <a:lnSpc>
              <a:spcPct val="90000"/>
            </a:lnSpc>
            <a:spcBef>
              <a:spcPct val="0"/>
            </a:spcBef>
            <a:spcAft>
              <a:spcPct val="35000"/>
            </a:spcAft>
            <a:buNone/>
          </a:pPr>
          <a:r>
            <a:rPr lang="en-US" sz="1900" kern="1200" dirty="0">
              <a:latin typeface="Century Gothic" panose="020B0502020202020204"/>
            </a:rPr>
            <a:t>Development</a:t>
          </a:r>
          <a:r>
            <a:rPr lang="en-US" sz="1900" kern="1200" dirty="0"/>
            <a:t> &amp; QA (Cross-Functional Creators)</a:t>
          </a:r>
        </a:p>
      </dsp:txBody>
      <dsp:txXfrm>
        <a:off x="8190761" y="318497"/>
        <a:ext cx="3590823" cy="686126"/>
      </dsp:txXfrm>
    </dsp:sp>
    <dsp:sp modelId="{F5EC08D0-148B-4B53-9DA5-5CF602D67C5F}">
      <dsp:nvSpPr>
        <dsp:cNvPr id="0" name=""/>
        <dsp:cNvSpPr/>
      </dsp:nvSpPr>
      <dsp:spPr>
        <a:xfrm>
          <a:off x="8190761" y="1004623"/>
          <a:ext cx="3590823" cy="5112004"/>
        </a:xfrm>
        <a:prstGeom prst="rect">
          <a:avLst/>
        </a:prstGeom>
        <a:solidFill>
          <a:schemeClr val="accent4">
            <a:tint val="40000"/>
            <a:alpha val="90000"/>
            <a:hueOff val="0"/>
            <a:satOff val="0"/>
            <a:lumOff val="0"/>
            <a:alphaOff val="0"/>
          </a:schemeClr>
        </a:solidFill>
        <a:ln w="15875" cap="rnd" cmpd="sng" algn="ctr">
          <a:solidFill>
            <a:schemeClr val="accent4">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01346" tIns="101346" rIns="135128" bIns="152019" numCol="1" spcCol="1270" anchor="t" anchorCtr="0">
          <a:noAutofit/>
        </a:bodyPr>
        <a:lstStyle/>
        <a:p>
          <a:pPr marL="171450" lvl="1" indent="-171450" algn="l" defTabSz="844550" rtl="0">
            <a:lnSpc>
              <a:spcPct val="90000"/>
            </a:lnSpc>
            <a:spcBef>
              <a:spcPct val="0"/>
            </a:spcBef>
            <a:spcAft>
              <a:spcPct val="15000"/>
            </a:spcAft>
            <a:buChar char="•"/>
          </a:pPr>
          <a:r>
            <a:rPr lang="en-US" sz="1900" b="1" kern="1200" dirty="0">
              <a:latin typeface="Century Gothic" panose="020B0502020202020204"/>
            </a:rPr>
            <a:t>Self-Organization</a:t>
          </a:r>
          <a:r>
            <a:rPr lang="en-US" sz="1900" b="1" kern="1200" dirty="0"/>
            <a:t>:</a:t>
          </a:r>
          <a:r>
            <a:rPr lang="en-US" sz="1900" kern="1200" dirty="0"/>
            <a:t> Cross-functional group of developers and testers collaborating directly on sprint increments.</a:t>
          </a:r>
        </a:p>
        <a:p>
          <a:pPr marL="171450" lvl="1" indent="-171450" algn="l" defTabSz="844550" rtl="0">
            <a:lnSpc>
              <a:spcPct val="90000"/>
            </a:lnSpc>
            <a:spcBef>
              <a:spcPct val="0"/>
            </a:spcBef>
            <a:spcAft>
              <a:spcPct val="15000"/>
            </a:spcAft>
            <a:buChar char="•"/>
          </a:pPr>
          <a:r>
            <a:rPr lang="en-US" sz="1900" b="1" kern="1200" dirty="0">
              <a:latin typeface="Century Gothic" panose="020B0502020202020204"/>
            </a:rPr>
            <a:t>Shared Ownership</a:t>
          </a:r>
          <a:r>
            <a:rPr lang="en-US" sz="1900" b="1" kern="1200" dirty="0"/>
            <a:t>:</a:t>
          </a:r>
          <a:r>
            <a:rPr lang="en-US" sz="1900" kern="1200" dirty="0"/>
            <a:t> Eliminates knowledge silos and single points of failure through continuous pairing and test verification.</a:t>
          </a:r>
        </a:p>
        <a:p>
          <a:pPr marL="171450" lvl="1" indent="-171450" algn="l" defTabSz="844550" rtl="0">
            <a:lnSpc>
              <a:spcPct val="90000"/>
            </a:lnSpc>
            <a:spcBef>
              <a:spcPct val="0"/>
            </a:spcBef>
            <a:spcAft>
              <a:spcPct val="15000"/>
            </a:spcAft>
            <a:buChar char="•"/>
          </a:pPr>
          <a:r>
            <a:rPr lang="en-US" sz="1900" b="1" kern="1200" dirty="0">
              <a:latin typeface="Century Gothic" panose="020B0502020202020204"/>
            </a:rPr>
            <a:t>Team Alignment</a:t>
          </a:r>
          <a:r>
            <a:rPr lang="en-US" sz="1900" b="1" kern="1200" dirty="0"/>
            <a:t>:</a:t>
          </a:r>
          <a:r>
            <a:rPr lang="en-US" sz="1900" kern="1200" dirty="0"/>
            <a:t> Structured role collaboration fosters transparent communication and shared mental models (Kostin &amp; Strode, 2023).</a:t>
          </a:r>
        </a:p>
      </dsp:txBody>
      <dsp:txXfrm>
        <a:off x="8190761" y="1004623"/>
        <a:ext cx="3590823" cy="511200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E63434F-2972-4A99-9E7A-36736ABEB23F}">
      <dsp:nvSpPr>
        <dsp:cNvPr id="0" name=""/>
        <dsp:cNvSpPr/>
      </dsp:nvSpPr>
      <dsp:spPr>
        <a:xfrm>
          <a:off x="5042873" y="84978"/>
          <a:ext cx="1356019" cy="13560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2860" tIns="22860" rIns="22860" bIns="22860" numCol="1" spcCol="1270" anchor="ctr" anchorCtr="0">
          <a:noAutofit/>
        </a:bodyPr>
        <a:lstStyle/>
        <a:p>
          <a:pPr marL="0" lvl="0" indent="0" algn="ctr" defTabSz="800100" rtl="0">
            <a:lnSpc>
              <a:spcPct val="90000"/>
            </a:lnSpc>
            <a:spcBef>
              <a:spcPct val="0"/>
            </a:spcBef>
            <a:spcAft>
              <a:spcPct val="35000"/>
            </a:spcAft>
            <a:buNone/>
          </a:pPr>
          <a:r>
            <a:rPr lang="en-US" sz="1800" b="1" kern="1200" dirty="0">
              <a:latin typeface="Times New Roman"/>
              <a:cs typeface="Times New Roman"/>
            </a:rPr>
            <a:t>Phase 2: Concurrency Developme</a:t>
          </a:r>
          <a:r>
            <a:rPr lang="en-US" sz="1800" b="1" kern="1200">
              <a:latin typeface="Times New Roman"/>
              <a:cs typeface="Times New Roman"/>
            </a:rPr>
            <a:t>nt &amp; Testing</a:t>
          </a:r>
          <a:endParaRPr lang="en-US" sz="1800" b="1" kern="1200" dirty="0">
            <a:latin typeface="Times New Roman"/>
            <a:cs typeface="Times New Roman"/>
          </a:endParaRPr>
        </a:p>
      </dsp:txBody>
      <dsp:txXfrm>
        <a:off x="5042873" y="84978"/>
        <a:ext cx="1356019" cy="1356019"/>
      </dsp:txXfrm>
    </dsp:sp>
    <dsp:sp modelId="{1A9D37A8-0D0A-4DB5-8A6E-4F8855F47B68}">
      <dsp:nvSpPr>
        <dsp:cNvPr id="0" name=""/>
        <dsp:cNvSpPr/>
      </dsp:nvSpPr>
      <dsp:spPr>
        <a:xfrm>
          <a:off x="2650262" y="-1157"/>
          <a:ext cx="3834767" cy="3834767"/>
        </a:xfrm>
        <a:prstGeom prst="circularArrow">
          <a:avLst>
            <a:gd name="adj1" fmla="val 6895"/>
            <a:gd name="adj2" fmla="val 464826"/>
            <a:gd name="adj3" fmla="val 551630"/>
            <a:gd name="adj4" fmla="val 20583544"/>
            <a:gd name="adj5" fmla="val 8045"/>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6714ACD-7CB1-47C0-BC5A-E2B0CB1878AE}">
      <dsp:nvSpPr>
        <dsp:cNvPr id="0" name=""/>
        <dsp:cNvSpPr/>
      </dsp:nvSpPr>
      <dsp:spPr>
        <a:xfrm>
          <a:off x="5042873" y="2391453"/>
          <a:ext cx="1356019" cy="13560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1590" tIns="21590" rIns="21590" bIns="21590" numCol="1" spcCol="1270" anchor="ctr" anchorCtr="0">
          <a:noAutofit/>
        </a:bodyPr>
        <a:lstStyle/>
        <a:p>
          <a:pPr marL="0" lvl="0" indent="0" algn="ctr" defTabSz="755650" rtl="0">
            <a:lnSpc>
              <a:spcPct val="90000"/>
            </a:lnSpc>
            <a:spcBef>
              <a:spcPct val="0"/>
            </a:spcBef>
            <a:spcAft>
              <a:spcPct val="35000"/>
            </a:spcAft>
            <a:buNone/>
          </a:pPr>
          <a:r>
            <a:rPr lang="en-US" sz="1700" b="1" kern="1200">
              <a:latin typeface="Times New Roman"/>
              <a:cs typeface="Times New Roman"/>
            </a:rPr>
            <a:t>Phase 3: Sprint Review</a:t>
          </a:r>
          <a:endParaRPr lang="en-US" sz="1700" b="1" kern="1200" dirty="0">
            <a:latin typeface="Times New Roman"/>
            <a:cs typeface="Times New Roman"/>
          </a:endParaRPr>
        </a:p>
      </dsp:txBody>
      <dsp:txXfrm>
        <a:off x="5042873" y="2391453"/>
        <a:ext cx="1356019" cy="1356019"/>
      </dsp:txXfrm>
    </dsp:sp>
    <dsp:sp modelId="{0E67085F-112F-4430-88E5-0EFEDDCDC529}">
      <dsp:nvSpPr>
        <dsp:cNvPr id="0" name=""/>
        <dsp:cNvSpPr/>
      </dsp:nvSpPr>
      <dsp:spPr>
        <a:xfrm>
          <a:off x="2650262" y="-1157"/>
          <a:ext cx="3834767" cy="3834767"/>
        </a:xfrm>
        <a:prstGeom prst="circularArrow">
          <a:avLst>
            <a:gd name="adj1" fmla="val 6895"/>
            <a:gd name="adj2" fmla="val 464826"/>
            <a:gd name="adj3" fmla="val 5951630"/>
            <a:gd name="adj4" fmla="val 4383544"/>
            <a:gd name="adj5" fmla="val 8045"/>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5A1862C-0385-4B64-A894-316FA5627BAC}">
      <dsp:nvSpPr>
        <dsp:cNvPr id="0" name=""/>
        <dsp:cNvSpPr/>
      </dsp:nvSpPr>
      <dsp:spPr>
        <a:xfrm>
          <a:off x="2736398" y="2391453"/>
          <a:ext cx="1356019" cy="13560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1590" tIns="21590" rIns="21590" bIns="21590" numCol="1" spcCol="1270" anchor="ctr" anchorCtr="0">
          <a:noAutofit/>
        </a:bodyPr>
        <a:lstStyle/>
        <a:p>
          <a:pPr marL="0" lvl="0" indent="0" algn="ctr" defTabSz="755650" rtl="0">
            <a:lnSpc>
              <a:spcPct val="90000"/>
            </a:lnSpc>
            <a:spcBef>
              <a:spcPct val="0"/>
            </a:spcBef>
            <a:spcAft>
              <a:spcPct val="35000"/>
            </a:spcAft>
            <a:buNone/>
          </a:pPr>
          <a:r>
            <a:rPr lang="en-US" sz="1700" b="1" kern="1200" dirty="0">
              <a:latin typeface="Times New Roman"/>
              <a:cs typeface="Times New Roman"/>
            </a:rPr>
            <a:t>Phase 4: Sprint </a:t>
          </a:r>
          <a:r>
            <a:rPr lang="en-US" sz="1700" b="1" kern="1200">
              <a:latin typeface="Times New Roman"/>
              <a:cs typeface="Times New Roman"/>
            </a:rPr>
            <a:t>Retrospective</a:t>
          </a:r>
          <a:endParaRPr lang="en-US" sz="1700" b="1" kern="1200" dirty="0">
            <a:latin typeface="Times New Roman"/>
            <a:cs typeface="Times New Roman"/>
          </a:endParaRPr>
        </a:p>
      </dsp:txBody>
      <dsp:txXfrm>
        <a:off x="2736398" y="2391453"/>
        <a:ext cx="1356019" cy="1356019"/>
      </dsp:txXfrm>
    </dsp:sp>
    <dsp:sp modelId="{33093DE4-883B-46D6-BE04-21C542BAA3BE}">
      <dsp:nvSpPr>
        <dsp:cNvPr id="0" name=""/>
        <dsp:cNvSpPr/>
      </dsp:nvSpPr>
      <dsp:spPr>
        <a:xfrm>
          <a:off x="2650262" y="-1157"/>
          <a:ext cx="3834767" cy="3834767"/>
        </a:xfrm>
        <a:prstGeom prst="circularArrow">
          <a:avLst>
            <a:gd name="adj1" fmla="val 6895"/>
            <a:gd name="adj2" fmla="val 464826"/>
            <a:gd name="adj3" fmla="val 11351630"/>
            <a:gd name="adj4" fmla="val 9783544"/>
            <a:gd name="adj5" fmla="val 8045"/>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FD1F20B-E9AC-4729-8BAB-1DAAE34BDC6E}">
      <dsp:nvSpPr>
        <dsp:cNvPr id="0" name=""/>
        <dsp:cNvSpPr/>
      </dsp:nvSpPr>
      <dsp:spPr>
        <a:xfrm>
          <a:off x="2736398" y="84978"/>
          <a:ext cx="1356019" cy="13560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2860" tIns="22860" rIns="22860" bIns="22860" numCol="1" spcCol="1270" anchor="ctr" anchorCtr="0">
          <a:noAutofit/>
        </a:bodyPr>
        <a:lstStyle/>
        <a:p>
          <a:pPr marL="0" lvl="0" indent="0" algn="ctr" defTabSz="800100" rtl="0">
            <a:lnSpc>
              <a:spcPct val="90000"/>
            </a:lnSpc>
            <a:spcBef>
              <a:spcPct val="0"/>
            </a:spcBef>
            <a:spcAft>
              <a:spcPct val="35000"/>
            </a:spcAft>
            <a:buNone/>
          </a:pPr>
          <a:r>
            <a:rPr lang="en-US" sz="1800" b="1" kern="1200">
              <a:latin typeface="Times New Roman"/>
              <a:ea typeface="Calibri"/>
              <a:cs typeface="Times New Roman"/>
            </a:rPr>
            <a:t>Phase 1: Sprint Planning</a:t>
          </a:r>
        </a:p>
      </dsp:txBody>
      <dsp:txXfrm>
        <a:off x="2736398" y="84978"/>
        <a:ext cx="1356019" cy="1356019"/>
      </dsp:txXfrm>
    </dsp:sp>
    <dsp:sp modelId="{E13A6CD5-DB18-47B6-8000-3855AE7ECB2B}">
      <dsp:nvSpPr>
        <dsp:cNvPr id="0" name=""/>
        <dsp:cNvSpPr/>
      </dsp:nvSpPr>
      <dsp:spPr>
        <a:xfrm>
          <a:off x="2650262" y="-1157"/>
          <a:ext cx="3834767" cy="3834767"/>
        </a:xfrm>
        <a:prstGeom prst="circularArrow">
          <a:avLst>
            <a:gd name="adj1" fmla="val 6895"/>
            <a:gd name="adj2" fmla="val 464826"/>
            <a:gd name="adj3" fmla="val 16751630"/>
            <a:gd name="adj4" fmla="val 15183544"/>
            <a:gd name="adj5" fmla="val 8045"/>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F408B11-097F-4B6D-9AFC-0928459F03A7}">
      <dsp:nvSpPr>
        <dsp:cNvPr id="0" name=""/>
        <dsp:cNvSpPr/>
      </dsp:nvSpPr>
      <dsp:spPr>
        <a:xfrm>
          <a:off x="47" y="140266"/>
          <a:ext cx="4579260" cy="691200"/>
        </a:xfrm>
        <a:prstGeom prst="rect">
          <a:avLst/>
        </a:prstGeom>
        <a:solidFill>
          <a:schemeClr val="accent2">
            <a:hueOff val="0"/>
            <a:satOff val="0"/>
            <a:lumOff val="0"/>
            <a:alphaOff val="0"/>
          </a:schemeClr>
        </a:solidFill>
        <a:ln w="15875" cap="rnd"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0688" tIns="97536" rIns="170688" bIns="97536" numCol="1" spcCol="1270" anchor="ctr" anchorCtr="0">
          <a:noAutofit/>
        </a:bodyPr>
        <a:lstStyle/>
        <a:p>
          <a:pPr marL="0" lvl="0" indent="0" algn="ctr" defTabSz="1066800" rtl="0">
            <a:lnSpc>
              <a:spcPct val="90000"/>
            </a:lnSpc>
            <a:spcBef>
              <a:spcPct val="0"/>
            </a:spcBef>
            <a:spcAft>
              <a:spcPct val="35000"/>
            </a:spcAft>
            <a:buNone/>
          </a:pPr>
          <a:r>
            <a:rPr lang="en-US" sz="2400" b="1" kern="1200" dirty="0">
              <a:latin typeface="Times New Roman"/>
              <a:cs typeface="Times New Roman"/>
            </a:rPr>
            <a:t>When to choose Waterfall</a:t>
          </a:r>
        </a:p>
      </dsp:txBody>
      <dsp:txXfrm>
        <a:off x="47" y="140266"/>
        <a:ext cx="4579260" cy="691200"/>
      </dsp:txXfrm>
    </dsp:sp>
    <dsp:sp modelId="{EA8332B2-8B87-41BD-9E6C-03F71A5B60C2}">
      <dsp:nvSpPr>
        <dsp:cNvPr id="0" name=""/>
        <dsp:cNvSpPr/>
      </dsp:nvSpPr>
      <dsp:spPr>
        <a:xfrm>
          <a:off x="47" y="831466"/>
          <a:ext cx="4579260" cy="2898720"/>
        </a:xfrm>
        <a:prstGeom prst="rect">
          <a:avLst/>
        </a:prstGeom>
        <a:solidFill>
          <a:schemeClr val="accent2">
            <a:tint val="40000"/>
            <a:alpha val="90000"/>
            <a:hueOff val="0"/>
            <a:satOff val="0"/>
            <a:lumOff val="0"/>
            <a:alphaOff val="0"/>
          </a:schemeClr>
        </a:solidFill>
        <a:ln w="15875" cap="rnd" cmpd="sng" algn="ctr">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8016" tIns="128016" rIns="170688" bIns="192024" numCol="1" spcCol="1270" anchor="t" anchorCtr="0">
          <a:noAutofit/>
        </a:bodyPr>
        <a:lstStyle/>
        <a:p>
          <a:pPr marL="228600" lvl="1" indent="-228600" algn="l" defTabSz="1066800" rtl="0">
            <a:lnSpc>
              <a:spcPct val="90000"/>
            </a:lnSpc>
            <a:spcBef>
              <a:spcPct val="0"/>
            </a:spcBef>
            <a:spcAft>
              <a:spcPct val="15000"/>
            </a:spcAft>
            <a:buChar char="•"/>
          </a:pPr>
          <a:r>
            <a:rPr lang="en-US" sz="2400" b="1" kern="1200" dirty="0">
              <a:latin typeface="Times New Roman"/>
              <a:cs typeface="Times New Roman"/>
            </a:rPr>
            <a:t>Fixed</a:t>
          </a:r>
          <a:r>
            <a:rPr lang="en-US" sz="2400" b="0" kern="1200" dirty="0">
              <a:latin typeface="Times New Roman"/>
              <a:cs typeface="Times New Roman"/>
            </a:rPr>
            <a:t>, unalterable regulatory requirements or static contract scopes.</a:t>
          </a:r>
        </a:p>
        <a:p>
          <a:pPr marL="228600" lvl="1" indent="-228600" algn="l" defTabSz="1066800" rtl="0">
            <a:lnSpc>
              <a:spcPct val="90000"/>
            </a:lnSpc>
            <a:spcBef>
              <a:spcPct val="0"/>
            </a:spcBef>
            <a:spcAft>
              <a:spcPct val="15000"/>
            </a:spcAft>
            <a:buChar char="•"/>
          </a:pPr>
          <a:r>
            <a:rPr lang="en-US" sz="2400" b="1" kern="1200" dirty="0">
              <a:latin typeface="Times New Roman"/>
              <a:cs typeface="Times New Roman"/>
            </a:rPr>
            <a:t>Predictable</a:t>
          </a:r>
          <a:r>
            <a:rPr lang="en-US" sz="2400" b="0" kern="1200" dirty="0">
              <a:latin typeface="Times New Roman"/>
              <a:cs typeface="Times New Roman"/>
            </a:rPr>
            <a:t>, linear hardware and</a:t>
          </a:r>
          <a:r>
            <a:rPr lang="en-US" sz="2400" kern="1200" dirty="0">
              <a:latin typeface="Times New Roman"/>
              <a:cs typeface="Times New Roman"/>
            </a:rPr>
            <a:t> IT infrastructure deployments where upfront planning ensures stability (Marquez, 2025).</a:t>
          </a:r>
        </a:p>
      </dsp:txBody>
      <dsp:txXfrm>
        <a:off x="47" y="831466"/>
        <a:ext cx="4579260" cy="2898720"/>
      </dsp:txXfrm>
    </dsp:sp>
    <dsp:sp modelId="{71CC5945-842B-4B2F-B07D-5592B12F9774}">
      <dsp:nvSpPr>
        <dsp:cNvPr id="0" name=""/>
        <dsp:cNvSpPr/>
      </dsp:nvSpPr>
      <dsp:spPr>
        <a:xfrm>
          <a:off x="5220405" y="140266"/>
          <a:ext cx="4579260" cy="691200"/>
        </a:xfrm>
        <a:prstGeom prst="rect">
          <a:avLst/>
        </a:prstGeom>
        <a:solidFill>
          <a:schemeClr val="accent3">
            <a:hueOff val="0"/>
            <a:satOff val="0"/>
            <a:lumOff val="0"/>
            <a:alphaOff val="0"/>
          </a:schemeClr>
        </a:solidFill>
        <a:ln w="15875" cap="rnd"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0688" tIns="97536" rIns="170688" bIns="97536" numCol="1" spcCol="1270" anchor="ctr" anchorCtr="0">
          <a:noAutofit/>
        </a:bodyPr>
        <a:lstStyle/>
        <a:p>
          <a:pPr marL="0" lvl="0" indent="0" algn="ctr" defTabSz="1066800" rtl="0">
            <a:lnSpc>
              <a:spcPct val="90000"/>
            </a:lnSpc>
            <a:spcBef>
              <a:spcPct val="0"/>
            </a:spcBef>
            <a:spcAft>
              <a:spcPct val="35000"/>
            </a:spcAft>
            <a:buNone/>
          </a:pPr>
          <a:r>
            <a:rPr lang="en-US" sz="2400" kern="1200" dirty="0">
              <a:latin typeface="Times New Roman"/>
              <a:cs typeface="Times New Roman"/>
            </a:rPr>
            <a:t>When to Deploy Agile / Scrum:</a:t>
          </a:r>
          <a:endParaRPr lang="en-US" sz="2400" kern="1200" dirty="0">
            <a:latin typeface="Times New Roman"/>
            <a:ea typeface="Calibri"/>
            <a:cs typeface="Times New Roman"/>
          </a:endParaRPr>
        </a:p>
      </dsp:txBody>
      <dsp:txXfrm>
        <a:off x="5220405" y="140266"/>
        <a:ext cx="4579260" cy="691200"/>
      </dsp:txXfrm>
    </dsp:sp>
    <dsp:sp modelId="{C1C25971-1BB3-436F-9E07-FA55F50C7EF4}">
      <dsp:nvSpPr>
        <dsp:cNvPr id="0" name=""/>
        <dsp:cNvSpPr/>
      </dsp:nvSpPr>
      <dsp:spPr>
        <a:xfrm>
          <a:off x="5220405" y="831466"/>
          <a:ext cx="4579260" cy="2898720"/>
        </a:xfrm>
        <a:prstGeom prst="rect">
          <a:avLst/>
        </a:prstGeom>
        <a:solidFill>
          <a:schemeClr val="accent3">
            <a:tint val="40000"/>
            <a:alpha val="90000"/>
            <a:hueOff val="0"/>
            <a:satOff val="0"/>
            <a:lumOff val="0"/>
            <a:alphaOff val="0"/>
          </a:schemeClr>
        </a:solidFill>
        <a:ln w="15875" cap="rnd" cmpd="sng" algn="ctr">
          <a:solidFill>
            <a:schemeClr val="accent3">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8016" tIns="128016" rIns="170688" bIns="192024" numCol="1" spcCol="1270" anchor="t" anchorCtr="0">
          <a:noAutofit/>
        </a:bodyPr>
        <a:lstStyle/>
        <a:p>
          <a:pPr marL="228600" lvl="1" indent="-228600" algn="l" defTabSz="1066800">
            <a:lnSpc>
              <a:spcPct val="90000"/>
            </a:lnSpc>
            <a:spcBef>
              <a:spcPct val="0"/>
            </a:spcBef>
            <a:spcAft>
              <a:spcPct val="15000"/>
            </a:spcAft>
            <a:buChar char="•"/>
          </a:pPr>
          <a:r>
            <a:rPr lang="en-US" sz="2400" b="1" kern="1200" dirty="0">
              <a:latin typeface="Times New Roman"/>
              <a:cs typeface="Times New Roman"/>
            </a:rPr>
            <a:t>Custom </a:t>
          </a:r>
          <a:r>
            <a:rPr lang="en-US" sz="2400" kern="1200" dirty="0">
              <a:latin typeface="Times New Roman"/>
              <a:cs typeface="Times New Roman"/>
            </a:rPr>
            <a:t>software development with evolving user requirements and dynamic UI/UX needs.</a:t>
          </a:r>
        </a:p>
        <a:p>
          <a:pPr marL="228600" lvl="1" indent="-228600" algn="l" defTabSz="1066800">
            <a:lnSpc>
              <a:spcPct val="90000"/>
            </a:lnSpc>
            <a:spcBef>
              <a:spcPct val="0"/>
            </a:spcBef>
            <a:spcAft>
              <a:spcPct val="15000"/>
            </a:spcAft>
            <a:buChar char="•"/>
          </a:pPr>
          <a:r>
            <a:rPr lang="en-US" sz="2400" b="1" kern="1200" dirty="0">
              <a:latin typeface="Times New Roman"/>
              <a:cs typeface="Times New Roman"/>
            </a:rPr>
            <a:t>Projects </a:t>
          </a:r>
          <a:r>
            <a:rPr lang="en-US" sz="2400" b="0" kern="1200" dirty="0">
              <a:latin typeface="Times New Roman"/>
              <a:cs typeface="Times New Roman"/>
            </a:rPr>
            <a:t>requiring rapid time-to-market, continuous customer feedback, and cross-functional innovation.</a:t>
          </a:r>
          <a:br>
            <a:rPr lang="en-US" sz="2400" b="0" kern="1200" dirty="0">
              <a:latin typeface="Times New Roman"/>
              <a:cs typeface="Times New Roman"/>
            </a:rPr>
          </a:br>
          <a:endParaRPr lang="en-US" sz="2400" kern="1200" dirty="0">
            <a:latin typeface="Times New Roman"/>
            <a:cs typeface="Times New Roman"/>
          </a:endParaRPr>
        </a:p>
      </dsp:txBody>
      <dsp:txXfrm>
        <a:off x="5220405" y="831466"/>
        <a:ext cx="4579260" cy="2898720"/>
      </dsp:txXfrm>
    </dsp:sp>
  </dsp:spTree>
</dsp:drawing>
</file>

<file path=ppt/diagrams/layout1.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cycle1">
  <dgm:title val=""/>
  <dgm:desc val=""/>
  <dgm:catLst>
    <dgm:cat type="cycle" pri="2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alg type="cycle">
          <dgm:param type="stAng" val="0"/>
          <dgm:param type="spanAng" val="360"/>
        </dgm:alg>
      </dgm:if>
      <dgm:else name="Name2">
        <dgm:alg type="cycle">
          <dgm:param type="stAng" val="0"/>
          <dgm:param type="spanAng" val="-360"/>
        </dgm:alg>
      </dgm:else>
    </dgm:choose>
    <dgm:shape xmlns:r="http://schemas.openxmlformats.org/officeDocument/2006/relationships" r:blip="">
      <dgm:adjLst/>
    </dgm:shape>
    <dgm:presOf/>
    <dgm:choose name="Name3">
      <dgm:if name="Name4" func="var" arg="dir" op="equ" val="norm">
        <dgm:constrLst>
          <dgm:constr type="diam" val="1"/>
          <dgm:constr type="w" for="ch" forName="node" refType="w"/>
          <dgm:constr type="w" for="ch" ptType="sibTrans" refType="w" refFor="ch" refForName="node" fact="0.5"/>
          <dgm:constr type="h" for="ch" ptType="sibTrans" op="equ"/>
          <dgm:constr type="diam" for="ch" ptType="sibTrans" refType="diam" op="equ"/>
          <dgm:constr type="sibSp" refType="w" refFor="ch" refForName="node" fact="0.15"/>
          <dgm:constr type="w" for="ch" forName="dummy" refType="sibSp" fact="2.8"/>
          <dgm:constr type="primFontSz" for="ch" forName="node" op="equ" val="65"/>
        </dgm:constrLst>
      </dgm:if>
      <dgm:else name="Name5">
        <dgm:constrLst>
          <dgm:constr type="diam" val="1"/>
          <dgm:constr type="w" for="ch" forName="node" refType="w"/>
          <dgm:constr type="w" for="ch" ptType="sibTrans" refType="w" refFor="ch" refForName="node" fact="0.5"/>
          <dgm:constr type="h" for="ch" ptType="sibTrans" op="equ"/>
          <dgm:constr type="diam" for="ch" ptType="sibTrans" refType="diam" op="equ" fact="-1"/>
          <dgm:constr type="sibSp" refType="w" refFor="ch" refForName="node" fact="0.15"/>
          <dgm:constr type="w" for="ch" forName="dummy" refType="sibSp" fact="2.8"/>
          <dgm:constr type="primFontSz" for="ch" forName="node" op="equ" val="65"/>
        </dgm:constrLst>
      </dgm:else>
    </dgm:choose>
    <dgm:ruleLst>
      <dgm:rule type="diam" val="INF" fact="NaN" max="NaN"/>
    </dgm:ruleLst>
    <dgm:forEach name="nodesForEach" axis="ch" ptType="node">
      <dgm:choose name="Name6">
        <dgm:if name="Name7" axis="par ch" ptType="doc node" func="cnt" op="gt" val="1">
          <dgm:layoutNode name="dummy">
            <dgm:alg type="sp"/>
            <dgm:shape xmlns:r="http://schemas.openxmlformats.org/officeDocument/2006/relationships" r:blip="">
              <dgm:adjLst/>
            </dgm:shape>
            <dgm:presOf/>
            <dgm:constrLst>
              <dgm:constr type="h" refType="w"/>
            </dgm:constrLst>
            <dgm:ruleLst/>
          </dgm:layoutNode>
        </dgm:if>
        <dgm:else name="Name8"/>
      </dgm:choose>
      <dgm:layoutNode name="node" styleLbl="revTx">
        <dgm:varLst>
          <dgm:bulletEnabled val="1"/>
        </dgm:varLst>
        <dgm:alg type="tx">
          <dgm:param type="txAnchorVertCh" val="mid"/>
        </dgm:alg>
        <dgm:shape xmlns:r="http://schemas.openxmlformats.org/officeDocument/2006/relationships" type="rect"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Name11" axis="followSib" ptType="sibTrans" hideLastTrans="0" cnt="1">
            <dgm:layoutNode name="sibTrans" styleLbl="node1">
              <dgm:alg type="conn">
                <dgm:param type="connRout" val="curve"/>
                <dgm:param type="begPts" val="radial"/>
                <dgm:param type="endPts" val="radial"/>
              </dgm:alg>
              <dgm:shape xmlns:r="http://schemas.openxmlformats.org/officeDocument/2006/relationships" type="conn" r:blip="">
                <dgm:adjLst/>
              </dgm:shape>
              <dgm:presOf axis="self"/>
              <dgm:constrLst>
                <dgm:constr type="h" refType="w" fact="0.65"/>
                <dgm:constr type="begPad"/>
                <dgm:constr type="endPad"/>
              </dgm:constrLst>
              <dgm:ruleLst/>
            </dgm:layoutNode>
          </dgm:forEach>
        </dgm:if>
        <dgm:else name="Name12"/>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ltNode1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revTxLt">
    <dgm:scene3d>
      <a:camera prst="orthographicFront"/>
      <a:lightRig rig="threePt" dir="t"/>
    </dgm:scene3d>
    <dgm:sp3d/>
    <dgm:txPr/>
    <dgm:style>
      <a:lnRef idx="0">
        <a:scrgbClr r="0" g="0" b="0"/>
      </a:lnRef>
      <a:fillRef idx="0">
        <a:scrgbClr r="0" g="0" b="0"/>
      </a:fillRef>
      <a:effectRef idx="0">
        <a:scrgbClr r="0" g="0" b="0"/>
      </a:effectRef>
      <a:fontRef idx="minor">
        <a:schemeClr val="lt1"/>
      </a:fontRef>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ltNode1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revTxLt">
    <dgm:scene3d>
      <a:camera prst="orthographicFront"/>
      <a:lightRig rig="threePt" dir="t"/>
    </dgm:scene3d>
    <dgm:sp3d/>
    <dgm:txPr/>
    <dgm:style>
      <a:lnRef idx="0">
        <a:scrgbClr r="0" g="0" b="0"/>
      </a:lnRef>
      <a:fillRef idx="0">
        <a:scrgbClr r="0" g="0" b="0"/>
      </a:fillRef>
      <a:effectRef idx="0">
        <a:scrgbClr r="0" g="0" b="0"/>
      </a:effectRef>
      <a:fontRef idx="minor">
        <a:schemeClr val="lt1"/>
      </a:fontRef>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ltNode1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revTxLt">
    <dgm:scene3d>
      <a:camera prst="orthographicFront"/>
      <a:lightRig rig="threePt" dir="t"/>
    </dgm:scene3d>
    <dgm:sp3d/>
    <dgm:txPr/>
    <dgm:style>
      <a:lnRef idx="0">
        <a:scrgbClr r="0" g="0" b="0"/>
      </a:lnRef>
      <a:fillRef idx="0">
        <a:scrgbClr r="0" g="0" b="0"/>
      </a:fillRef>
      <a:effectRef idx="0">
        <a:scrgbClr r="0" g="0" b="0"/>
      </a:effectRef>
      <a:fontRef idx="minor">
        <a:schemeClr val="lt1"/>
      </a:fontRef>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28F49F1-E87D-407B-BCEB-8D9FE07E84EC}" type="datetimeFigureOut">
              <a:t>8/16/2026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A51CF5C-006A-4568-8932-C43C1772EE16}" type="slidenum">
              <a:t>‹#›</a:t>
            </a:fld>
            <a:endParaRPr lang="en-US"/>
          </a:p>
        </p:txBody>
      </p:sp>
    </p:spTree>
    <p:extLst>
      <p:ext uri="{BB962C8B-B14F-4D97-AF65-F5344CB8AC3E}">
        <p14:creationId xmlns:p14="http://schemas.microsoft.com/office/powerpoint/2010/main" val="26893163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leadership team. Today, I am presenting the findings and strategic insights from our recent SNHU Travel development pilot. For years, </a:t>
            </a:r>
            <a:r>
              <a:rPr lang="en-US" dirty="0" err="1"/>
              <a:t>ChadaTech</a:t>
            </a:r>
            <a:r>
              <a:rPr lang="en-US" dirty="0"/>
              <a:t> has delivered software using traditional waterfall models. However, evolving client expectations require greater adaptability, faster delivery cycles, and reduced operational risk. This presentation evaluates how adopting Scrum-Agile transformed our development process, contrasts it with our traditional waterfall framework, and provides actionable recommendations for transitioning our broader engineering organization.</a:t>
            </a:r>
          </a:p>
        </p:txBody>
      </p:sp>
      <p:sp>
        <p:nvSpPr>
          <p:cNvPr id="4" name="Slide Number Placeholder 3"/>
          <p:cNvSpPr>
            <a:spLocks noGrp="1"/>
          </p:cNvSpPr>
          <p:nvPr>
            <p:ph type="sldNum" sz="quarter" idx="5"/>
          </p:nvPr>
        </p:nvSpPr>
        <p:spPr/>
        <p:txBody>
          <a:bodyPr/>
          <a:lstStyle/>
          <a:p>
            <a:fld id="{DA51CF5C-006A-4568-8932-C43C1772EE16}" type="slidenum">
              <a:t>1</a:t>
            </a:fld>
            <a:endParaRPr lang="en-US"/>
          </a:p>
        </p:txBody>
      </p:sp>
    </p:spTree>
    <p:extLst>
      <p:ext uri="{BB962C8B-B14F-4D97-AF65-F5344CB8AC3E}">
        <p14:creationId xmlns:p14="http://schemas.microsoft.com/office/powerpoint/2010/main" val="305084425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our legacy waterfall environment at </a:t>
            </a:r>
            <a:r>
              <a:rPr lang="en-US" dirty="0" err="1"/>
              <a:t>ChadaTech</a:t>
            </a:r>
            <a:r>
              <a:rPr lang="en-US" dirty="0"/>
              <a:t>, authority was centralized in a project manager while developers and testers operated in disconnected functional silos. In Scrum, accountability is distributed across three distinct columns: the Product Owner, the Scrum Master, and the cross-functional Development/QA team. The Product Owner focuses on what to build by constantly prioritizing customer value. The Scrum Master acts as a servant leader, with Shastri et al. (2021) proving that an active Scrum Master directly increases how effectively teams execute Agile practices. Finally, the Development and Testing team self-organizes to build and test concurrently, which Kostin and Strode (2023) highlight as essential for building shared mental models and eliminating communication breakdowns across distributed teams.</a:t>
            </a:r>
          </a:p>
        </p:txBody>
      </p:sp>
      <p:sp>
        <p:nvSpPr>
          <p:cNvPr id="4" name="Slide Number Placeholder 3"/>
          <p:cNvSpPr>
            <a:spLocks noGrp="1"/>
          </p:cNvSpPr>
          <p:nvPr>
            <p:ph type="sldNum" sz="quarter" idx="5"/>
          </p:nvPr>
        </p:nvSpPr>
        <p:spPr/>
        <p:txBody>
          <a:bodyPr/>
          <a:lstStyle/>
          <a:p>
            <a:fld id="{DA51CF5C-006A-4568-8932-C43C1772EE16}" type="slidenum">
              <a:t>2</a:t>
            </a:fld>
            <a:endParaRPr lang="en-US"/>
          </a:p>
        </p:txBody>
      </p:sp>
    </p:spTree>
    <p:extLst>
      <p:ext uri="{BB962C8B-B14F-4D97-AF65-F5344CB8AC3E}">
        <p14:creationId xmlns:p14="http://schemas.microsoft.com/office/powerpoint/2010/main" val="87248795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Unlike waterfall, where SDLC phases take place over several months in a linear sequence, Scrum condenses the entire SDLC into repeatable 2- to 4-week sprints. In our SNHU Travel pilot, every sprint started with collaborative planning to set achievable goals. Development and testing were executed concurrently, allowing us to catch defects immediately rather than in a late QA phase. At the end of each sprint, we demonstrated working software to stakeholders during the Sprint Review and used the Retrospective to optimize our internal processes. As Edison et al. (2022) point out in their systematic review, structured cadence and synchronized feedback loops are essential for maintaining alignment as organizations scale.</a:t>
            </a:r>
          </a:p>
        </p:txBody>
      </p:sp>
      <p:sp>
        <p:nvSpPr>
          <p:cNvPr id="4" name="Slide Number Placeholder 3"/>
          <p:cNvSpPr>
            <a:spLocks noGrp="1"/>
          </p:cNvSpPr>
          <p:nvPr>
            <p:ph type="sldNum" sz="quarter" idx="5"/>
          </p:nvPr>
        </p:nvSpPr>
        <p:spPr/>
        <p:txBody>
          <a:bodyPr/>
          <a:lstStyle/>
          <a:p>
            <a:fld id="{DA51CF5C-006A-4568-8932-C43C1772EE16}" type="slidenum">
              <a:t>3</a:t>
            </a:fld>
            <a:endParaRPr lang="en-US"/>
          </a:p>
        </p:txBody>
      </p:sp>
    </p:spTree>
    <p:extLst>
      <p:ext uri="{BB962C8B-B14F-4D97-AF65-F5344CB8AC3E}">
        <p14:creationId xmlns:p14="http://schemas.microsoft.com/office/powerpoint/2010/main" val="401274212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 understand the practical difference, consider the mid-development pivot we experienced during the SNHU Travel pilot. Stakeholders requested a significant change in destination data models, image aspect ratios, and GUI text formatting. In our traditional waterfall model, this disruption would have halted progress, required formal contract renegotiations, and led to discarded code. Under Scrum, our modular architecture and two-week cycles allowed us to absorb the pivot cleanly. We finished the active sprint, refined the Product Backlog, and implemented the new 800x500 layout ratio in the next sprint without team burnout. Marquez (2025) explicitly demonstrates that Agile's iterative structure outperforms waterfall in managing uncertainty and emerging risks in software projects.</a:t>
            </a:r>
          </a:p>
        </p:txBody>
      </p:sp>
      <p:sp>
        <p:nvSpPr>
          <p:cNvPr id="4" name="Slide Number Placeholder 3"/>
          <p:cNvSpPr>
            <a:spLocks noGrp="1"/>
          </p:cNvSpPr>
          <p:nvPr>
            <p:ph type="sldNum" sz="quarter" idx="5"/>
          </p:nvPr>
        </p:nvSpPr>
        <p:spPr/>
        <p:txBody>
          <a:bodyPr/>
          <a:lstStyle/>
          <a:p>
            <a:fld id="{DA51CF5C-006A-4568-8932-C43C1772EE16}" type="slidenum">
              <a:t>4</a:t>
            </a:fld>
            <a:endParaRPr lang="en-US"/>
          </a:p>
        </p:txBody>
      </p:sp>
    </p:spTree>
    <p:extLst>
      <p:ext uri="{BB962C8B-B14F-4D97-AF65-F5344CB8AC3E}">
        <p14:creationId xmlns:p14="http://schemas.microsoft.com/office/powerpoint/2010/main" val="53543244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recommendation is not to abandon Waterfall blindly, but to align the methodology with project characteristics. As Marquez (2025) emphasizes, Waterfall remains valuable for fixed-scope infrastructure projects where structured planning provides stability. However, for </a:t>
            </a:r>
            <a:r>
              <a:rPr lang="en-US" dirty="0" err="1"/>
              <a:t>ChadaTech's</a:t>
            </a:r>
            <a:r>
              <a:rPr lang="en-US" dirty="0"/>
              <a:t> core business of custom software development, Scrum-Agile is vastly superior. Adopting Agile across our development teams will shorten our feedback loops, improve product quality, eliminate knowledge silos, and ensure </a:t>
            </a:r>
            <a:r>
              <a:rPr lang="en-US" dirty="0" err="1"/>
              <a:t>ChadaTech</a:t>
            </a:r>
            <a:r>
              <a:rPr lang="en-US" dirty="0"/>
              <a:t> remains competitive in a rapidly changing market.</a:t>
            </a:r>
          </a:p>
        </p:txBody>
      </p:sp>
      <p:sp>
        <p:nvSpPr>
          <p:cNvPr id="4" name="Slide Number Placeholder 3"/>
          <p:cNvSpPr>
            <a:spLocks noGrp="1"/>
          </p:cNvSpPr>
          <p:nvPr>
            <p:ph type="sldNum" sz="quarter" idx="5"/>
          </p:nvPr>
        </p:nvSpPr>
        <p:spPr/>
        <p:txBody>
          <a:bodyPr/>
          <a:lstStyle/>
          <a:p>
            <a:fld id="{DA51CF5C-006A-4568-8932-C43C1772EE16}" type="slidenum">
              <a:t>5</a:t>
            </a:fld>
            <a:endParaRPr lang="en-US"/>
          </a:p>
        </p:txBody>
      </p:sp>
    </p:spTree>
    <p:extLst>
      <p:ext uri="{BB962C8B-B14F-4D97-AF65-F5344CB8AC3E}">
        <p14:creationId xmlns:p14="http://schemas.microsoft.com/office/powerpoint/2010/main" val="80496601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4212" y="685799"/>
            <a:ext cx="8001000" cy="2971801"/>
          </a:xfrm>
        </p:spPr>
        <p:txBody>
          <a:bodyPr anchor="b">
            <a:normAutofit/>
          </a:bodyPr>
          <a:lstStyle>
            <a:lvl1pPr algn="l">
              <a:defRPr sz="4800">
                <a:effectLst/>
              </a:defRPr>
            </a:lvl1pPr>
          </a:lstStyle>
          <a:p>
            <a:r>
              <a:rPr lang="en-US" dirty="0"/>
              <a:t>Click to edit Master title style</a:t>
            </a:r>
          </a:p>
        </p:txBody>
      </p:sp>
      <p:sp>
        <p:nvSpPr>
          <p:cNvPr id="3" name="Subtitle 2"/>
          <p:cNvSpPr>
            <a:spLocks noGrp="1"/>
          </p:cNvSpPr>
          <p:nvPr>
            <p:ph type="subTitle" idx="1"/>
          </p:nvPr>
        </p:nvSpPr>
        <p:spPr>
          <a:xfrm>
            <a:off x="684212" y="3843867"/>
            <a:ext cx="6400800" cy="1947333"/>
          </a:xfrm>
        </p:spPr>
        <p:txBody>
          <a:bodyPr anchor="t">
            <a:normAutofit/>
          </a:bodyPr>
          <a:lstStyle>
            <a:lvl1pPr marL="0" indent="0" algn="l">
              <a:buNone/>
              <a:defRPr sz="2100">
                <a:solidFill>
                  <a:schemeClr val="bg2">
                    <a:lumMod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fld id="{B61BEF0D-F0BB-DE4B-95CE-6DB70DBA9567}" type="datetimeFigureOut">
              <a:rPr lang="en-US" dirty="0"/>
              <a:pPr/>
              <a:t>8/16/2026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6" name="Straight Connector 15"/>
          <p:cNvCxnSpPr/>
          <p:nvPr/>
        </p:nvCxnSpPr>
        <p:spPr>
          <a:xfrm flipH="1">
            <a:off x="8228012" y="8467"/>
            <a:ext cx="3810000" cy="3810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p:nvCxnSpPr>
        <p:spPr>
          <a:xfrm flipH="1">
            <a:off x="6108170" y="91545"/>
            <a:ext cx="6080655" cy="608065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p:nvCxnSpPr>
        <p:spPr>
          <a:xfrm flipH="1">
            <a:off x="7235825" y="228600"/>
            <a:ext cx="4953000" cy="4953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335837" y="32278"/>
            <a:ext cx="4852989" cy="485298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p:nvCxnSpPr>
        <p:spPr>
          <a:xfrm flipH="1">
            <a:off x="7845426" y="609601"/>
            <a:ext cx="4343399" cy="434339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83609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nchor="ct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B61BEF0D-F0BB-DE4B-95CE-6DB70DBA9567}" type="datetimeFigureOut">
              <a:rPr lang="en-US" dirty="0"/>
              <a:pPr/>
              <a:t>8/16/2026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109435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4211" y="2006600"/>
            <a:ext cx="8534401" cy="2281600"/>
          </a:xfrm>
        </p:spPr>
        <p:txBody>
          <a:bodyPr anchor="b">
            <a:normAutofit/>
          </a:bodyPr>
          <a:lstStyle>
            <a:lvl1pPr algn="l">
              <a:defRPr sz="3600" b="0" cap="all"/>
            </a:lvl1pPr>
          </a:lstStyle>
          <a:p>
            <a:r>
              <a:rPr lang="en-US" dirty="0"/>
              <a:t>Click to edit Master title style</a:t>
            </a:r>
          </a:p>
        </p:txBody>
      </p:sp>
      <p:sp>
        <p:nvSpPr>
          <p:cNvPr id="3" name="Text Placeholder 2"/>
          <p:cNvSpPr>
            <a:spLocks noGrp="1"/>
          </p:cNvSpPr>
          <p:nvPr>
            <p:ph type="body" idx="1"/>
          </p:nvPr>
        </p:nvSpPr>
        <p:spPr>
          <a:xfrm>
            <a:off x="684213" y="4495800"/>
            <a:ext cx="8534400" cy="1498600"/>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8/16/2026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4267657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sz="half" idx="1"/>
          </p:nvPr>
        </p:nvSpPr>
        <p:spPr>
          <a:xfrm>
            <a:off x="684211" y="685800"/>
            <a:ext cx="4937655" cy="3615267"/>
          </a:xfrm>
        </p:spPr>
        <p:txBody>
          <a:bodyP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5808133" y="685801"/>
            <a:ext cx="4934479" cy="3615266"/>
          </a:xfrm>
        </p:spPr>
        <p:txBody>
          <a:bodyP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p>
            <a:fld id="{B61BEF0D-F0BB-DE4B-95CE-6DB70DBA9567}" type="datetimeFigureOut">
              <a:rPr lang="en-US" dirty="0"/>
              <a:pPr/>
              <a:t>8/16/2026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5520084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dirty="0"/>
              <a:t>Click to edit Master title style</a:t>
            </a:r>
          </a:p>
        </p:txBody>
      </p:sp>
      <p:sp>
        <p:nvSpPr>
          <p:cNvPr id="3" name="Text Placeholder 2"/>
          <p:cNvSpPr>
            <a:spLocks noGrp="1"/>
          </p:cNvSpPr>
          <p:nvPr>
            <p:ph type="body" idx="1"/>
          </p:nvPr>
        </p:nvSpPr>
        <p:spPr>
          <a:xfrm>
            <a:off x="972080" y="685800"/>
            <a:ext cx="4649787"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684211" y="1270529"/>
            <a:ext cx="4937655" cy="3030538"/>
          </a:xfrm>
        </p:spPr>
        <p:txBody>
          <a:bodyPr anchor="t">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079066" y="685800"/>
            <a:ext cx="4665134"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5806545" y="1262062"/>
            <a:ext cx="4929188" cy="3030538"/>
          </a:xfrm>
        </p:spPr>
        <p:txBody>
          <a:bodyPr anchor="t">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B61BEF0D-F0BB-DE4B-95CE-6DB70DBA9567}" type="datetimeFigureOut">
              <a:rPr lang="en-US" dirty="0"/>
              <a:pPr/>
              <a:t>8/16/2026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4577975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Date Placeholder 2"/>
          <p:cNvSpPr>
            <a:spLocks noGrp="1"/>
          </p:cNvSpPr>
          <p:nvPr>
            <p:ph type="dt" sz="half" idx="10"/>
          </p:nvPr>
        </p:nvSpPr>
        <p:spPr/>
        <p:txBody>
          <a:bodyPr/>
          <a:lstStyle/>
          <a:p>
            <a:fld id="{B61BEF0D-F0BB-DE4B-95CE-6DB70DBA9567}" type="datetimeFigureOut">
              <a:rPr lang="en-US" dirty="0"/>
              <a:pPr/>
              <a:t>8/16/2026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40383674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8/16/2026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6865440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085012" y="685800"/>
            <a:ext cx="3657600" cy="1371600"/>
          </a:xfrm>
        </p:spPr>
        <p:txBody>
          <a:bodyPr anchor="b">
            <a:normAutofit/>
          </a:bodyPr>
          <a:lstStyle>
            <a:lvl1pPr algn="l">
              <a:defRPr sz="2400" b="0"/>
            </a:lvl1pPr>
          </a:lstStyle>
          <a:p>
            <a:r>
              <a:rPr lang="en-US" dirty="0"/>
              <a:t>Click to edit Master title style</a:t>
            </a:r>
          </a:p>
        </p:txBody>
      </p:sp>
      <p:sp>
        <p:nvSpPr>
          <p:cNvPr id="3" name="Content Placeholder 2"/>
          <p:cNvSpPr>
            <a:spLocks noGrp="1"/>
          </p:cNvSpPr>
          <p:nvPr>
            <p:ph idx="1"/>
          </p:nvPr>
        </p:nvSpPr>
        <p:spPr>
          <a:xfrm>
            <a:off x="684212" y="685800"/>
            <a:ext cx="5943601" cy="5308600"/>
          </a:xfrm>
        </p:spPr>
        <p:txBody>
          <a:bodyPr anchor="ct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7085012" y="2209799"/>
            <a:ext cx="3657600" cy="2091267"/>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8/16/2026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9204185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2812" y="1447800"/>
            <a:ext cx="6019800" cy="1143000"/>
          </a:xfrm>
        </p:spPr>
        <p:txBody>
          <a:bodyPr anchor="b">
            <a:normAutofit/>
          </a:bodyPr>
          <a:lstStyle>
            <a:lvl1pPr algn="l">
              <a:defRPr sz="2800" b="0"/>
            </a:lvl1pPr>
          </a:lstStyle>
          <a:p>
            <a:r>
              <a:rPr lang="en-US" dirty="0"/>
              <a:t>Click to edit Master title style</a:t>
            </a:r>
          </a:p>
        </p:txBody>
      </p:sp>
      <p:sp>
        <p:nvSpPr>
          <p:cNvPr id="14" name="Picture Placeholder 2"/>
          <p:cNvSpPr>
            <a:spLocks noGrp="1" noChangeAspect="1"/>
          </p:cNvSpPr>
          <p:nvPr>
            <p:ph type="pic" idx="1"/>
          </p:nvPr>
        </p:nvSpPr>
        <p:spPr>
          <a:xfrm>
            <a:off x="989012" y="914400"/>
            <a:ext cx="3280974" cy="45720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dirty="0"/>
          </a:p>
        </p:txBody>
      </p:sp>
      <p:sp>
        <p:nvSpPr>
          <p:cNvPr id="4" name="Text Placeholder 3"/>
          <p:cNvSpPr>
            <a:spLocks noGrp="1"/>
          </p:cNvSpPr>
          <p:nvPr>
            <p:ph type="body" sz="half" idx="2"/>
          </p:nvPr>
        </p:nvSpPr>
        <p:spPr>
          <a:xfrm>
            <a:off x="4722812" y="2777066"/>
            <a:ext cx="6021388" cy="2048933"/>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8/16/2026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7990200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17" name="Picture Placeholder 2"/>
          <p:cNvSpPr>
            <a:spLocks noGrp="1" noChangeAspect="1"/>
          </p:cNvSpPr>
          <p:nvPr>
            <p:ph type="pic" idx="13"/>
          </p:nvPr>
        </p:nvSpPr>
        <p:spPr>
          <a:xfrm>
            <a:off x="685800" y="533400"/>
            <a:ext cx="10818812" cy="31242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dirty="0"/>
          </a:p>
        </p:txBody>
      </p:sp>
      <p:sp>
        <p:nvSpPr>
          <p:cNvPr id="16" name="Text Placeholder 9"/>
          <p:cNvSpPr>
            <a:spLocks noGrp="1"/>
          </p:cNvSpPr>
          <p:nvPr>
            <p:ph type="body" sz="quarter" idx="14"/>
          </p:nvPr>
        </p:nvSpPr>
        <p:spPr>
          <a:xfrm>
            <a:off x="914402" y="3843867"/>
            <a:ext cx="8304210" cy="457200"/>
          </a:xfrm>
        </p:spPr>
        <p:txBody>
          <a:bodyPr anchor="t">
            <a:normAutofit/>
          </a:bodyPr>
          <a:lstStyle>
            <a:lvl1pPr marL="0" indent="0">
              <a:buFontTx/>
              <a:buNone/>
              <a:defRPr sz="16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dirty="0"/>
              <a:t>Click to edit Master text styles</a:t>
            </a:r>
          </a:p>
        </p:txBody>
      </p:sp>
      <p:sp>
        <p:nvSpPr>
          <p:cNvPr id="3" name="Date Placeholder 2"/>
          <p:cNvSpPr>
            <a:spLocks noGrp="1"/>
          </p:cNvSpPr>
          <p:nvPr>
            <p:ph type="dt" sz="half" idx="10"/>
          </p:nvPr>
        </p:nvSpPr>
        <p:spPr/>
        <p:txBody>
          <a:bodyPr/>
          <a:lstStyle/>
          <a:p>
            <a:fld id="{B61BEF0D-F0BB-DE4B-95CE-6DB70DBA9567}" type="datetimeFigureOut">
              <a:rPr lang="en-US" dirty="0"/>
              <a:pPr/>
              <a:t>8/16/2026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6838201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anchor="ctr">
            <a:normAutofit/>
          </a:bodyPr>
          <a:lstStyle>
            <a:lvl1pPr algn="l">
              <a:defRPr sz="3200" b="0" cap="all"/>
            </a:lvl1pPr>
          </a:lstStyle>
          <a:p>
            <a:r>
              <a:rPr lang="en-US" dirty="0"/>
              <a:t>Click to edit Master title style</a:t>
            </a:r>
          </a:p>
        </p:txBody>
      </p:sp>
      <p:sp>
        <p:nvSpPr>
          <p:cNvPr id="3" name="Text Placeholder 2"/>
          <p:cNvSpPr>
            <a:spLocks noGrp="1"/>
          </p:cNvSpPr>
          <p:nvPr>
            <p:ph type="body" idx="1"/>
          </p:nvPr>
        </p:nvSpPr>
        <p:spPr>
          <a:xfrm>
            <a:off x="684212" y="4114800"/>
            <a:ext cx="8535988" cy="1879600"/>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8/16/2026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69260382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85800"/>
            <a:ext cx="9144001" cy="2743200"/>
          </a:xfrm>
        </p:spPr>
        <p:txBody>
          <a:bodyPr anchor="ctr">
            <a:normAutofit/>
          </a:bodyPr>
          <a:lstStyle>
            <a:lvl1pPr algn="l">
              <a:defRPr sz="3200" b="0" cap="all">
                <a:solidFill>
                  <a:schemeClr val="tx1"/>
                </a:solidFill>
              </a:defRPr>
            </a:lvl1pPr>
          </a:lstStyle>
          <a:p>
            <a:r>
              <a:rPr lang="en-US" dirty="0"/>
              <a:t>Click to edit Master title style</a:t>
            </a:r>
          </a:p>
        </p:txBody>
      </p:sp>
      <p:sp>
        <p:nvSpPr>
          <p:cNvPr id="10" name="Text Placeholder 9"/>
          <p:cNvSpPr>
            <a:spLocks noGrp="1"/>
          </p:cNvSpPr>
          <p:nvPr>
            <p:ph type="body" sz="quarter" idx="13"/>
          </p:nvPr>
        </p:nvSpPr>
        <p:spPr>
          <a:xfrm>
            <a:off x="1446212" y="3429000"/>
            <a:ext cx="8534400"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dirty="0"/>
              <a:t>Click to edit Master text styles</a:t>
            </a:r>
          </a:p>
        </p:txBody>
      </p:sp>
      <p:sp>
        <p:nvSpPr>
          <p:cNvPr id="3" name="Text Placeholder 2"/>
          <p:cNvSpPr>
            <a:spLocks noGrp="1"/>
          </p:cNvSpPr>
          <p:nvPr>
            <p:ph type="body" idx="1"/>
          </p:nvPr>
        </p:nvSpPr>
        <p:spPr>
          <a:xfrm>
            <a:off x="684213" y="4301067"/>
            <a:ext cx="8534400" cy="1684865"/>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8/16/2026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14" name="TextBox 13"/>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extLst>
      <p:ext uri="{BB962C8B-B14F-4D97-AF65-F5344CB8AC3E}">
        <p14:creationId xmlns:p14="http://schemas.microsoft.com/office/powerpoint/2010/main" val="17230094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84212" y="3429000"/>
            <a:ext cx="8534400" cy="1697400"/>
          </a:xfrm>
        </p:spPr>
        <p:txBody>
          <a:bodyPr anchor="b">
            <a:normAutofit/>
          </a:bodyPr>
          <a:lstStyle>
            <a:lvl1pPr algn="l">
              <a:defRPr sz="3200" b="0" cap="all"/>
            </a:lvl1pPr>
          </a:lstStyle>
          <a:p>
            <a:r>
              <a:rPr lang="en-US" dirty="0"/>
              <a:t>Click to edit Master title style</a:t>
            </a:r>
          </a:p>
        </p:txBody>
      </p:sp>
      <p:sp>
        <p:nvSpPr>
          <p:cNvPr id="3" name="Text Placeholder 2"/>
          <p:cNvSpPr>
            <a:spLocks noGrp="1"/>
          </p:cNvSpPr>
          <p:nvPr>
            <p:ph type="body" idx="1"/>
          </p:nvPr>
        </p:nvSpPr>
        <p:spPr>
          <a:xfrm>
            <a:off x="684211" y="5132981"/>
            <a:ext cx="8535990" cy="860400"/>
          </a:xfrm>
        </p:spPr>
        <p:txBody>
          <a:bodyPr anchor="t">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8/16/2026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62588836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3" y="685800"/>
            <a:ext cx="9144000" cy="2743200"/>
          </a:xfrm>
        </p:spPr>
        <p:txBody>
          <a:bodyPr anchor="ctr">
            <a:normAutofit/>
          </a:bodyPr>
          <a:lstStyle>
            <a:lvl1pPr algn="l">
              <a:defRPr sz="3200" b="0" cap="all">
                <a:solidFill>
                  <a:schemeClr val="tx1"/>
                </a:solidFill>
              </a:defRPr>
            </a:lvl1pPr>
          </a:lstStyle>
          <a:p>
            <a:r>
              <a:rPr lang="en-US" dirty="0"/>
              <a:t>Click to edit Master title style</a:t>
            </a:r>
          </a:p>
        </p:txBody>
      </p:sp>
      <p:sp>
        <p:nvSpPr>
          <p:cNvPr id="10" name="Text Placeholder 9"/>
          <p:cNvSpPr>
            <a:spLocks noGrp="1"/>
          </p:cNvSpPr>
          <p:nvPr>
            <p:ph type="body" sz="quarter" idx="13"/>
          </p:nvPr>
        </p:nvSpPr>
        <p:spPr>
          <a:xfrm>
            <a:off x="684212" y="3928534"/>
            <a:ext cx="8534401" cy="1049866"/>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en-US" dirty="0"/>
              <a:t>Click to edit Master text styles</a:t>
            </a:r>
          </a:p>
        </p:txBody>
      </p:sp>
      <p:sp>
        <p:nvSpPr>
          <p:cNvPr id="3" name="Text Placeholder 2"/>
          <p:cNvSpPr>
            <a:spLocks noGrp="1"/>
          </p:cNvSpPr>
          <p:nvPr>
            <p:ph type="body" idx="1"/>
          </p:nvPr>
        </p:nvSpPr>
        <p:spPr>
          <a:xfrm>
            <a:off x="684211" y="4978400"/>
            <a:ext cx="8534401" cy="1016000"/>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8/16/2026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11" name="TextBox 10"/>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2" name="TextBox 11"/>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extLst>
      <p:ext uri="{BB962C8B-B14F-4D97-AF65-F5344CB8AC3E}">
        <p14:creationId xmlns:p14="http://schemas.microsoft.com/office/powerpoint/2010/main" val="166830776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vert="horz" lIns="91440" tIns="45720" rIns="91440" bIns="45720" rtlCol="0" anchor="ctr">
            <a:normAutofit/>
          </a:bodyPr>
          <a:lstStyle>
            <a:lvl1pPr>
              <a:defRPr lang="en-US" b="0" dirty="0"/>
            </a:lvl1pPr>
          </a:lstStyle>
          <a:p>
            <a:pPr marL="0" lvl="0"/>
            <a:r>
              <a:rPr lang="en-US" dirty="0"/>
              <a:t>Click to edit Master title style</a:t>
            </a:r>
          </a:p>
        </p:txBody>
      </p:sp>
      <p:sp>
        <p:nvSpPr>
          <p:cNvPr id="10" name="Text Placeholder 9"/>
          <p:cNvSpPr>
            <a:spLocks noGrp="1"/>
          </p:cNvSpPr>
          <p:nvPr>
            <p:ph type="body" sz="quarter" idx="13"/>
          </p:nvPr>
        </p:nvSpPr>
        <p:spPr>
          <a:xfrm>
            <a:off x="684212" y="3928534"/>
            <a:ext cx="8534400" cy="838200"/>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en-US" dirty="0"/>
              <a:t>Click to edit Master text styles</a:t>
            </a:r>
          </a:p>
        </p:txBody>
      </p:sp>
      <p:sp>
        <p:nvSpPr>
          <p:cNvPr id="3" name="Text Placeholder 2"/>
          <p:cNvSpPr>
            <a:spLocks noGrp="1"/>
          </p:cNvSpPr>
          <p:nvPr>
            <p:ph type="body" idx="1"/>
          </p:nvPr>
        </p:nvSpPr>
        <p:spPr>
          <a:xfrm>
            <a:off x="684211" y="4766732"/>
            <a:ext cx="8534401" cy="1227667"/>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8/16/2026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68139996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lang="en-US" dirty="0"/>
              <a:t>Click to edit Master title style</a:t>
            </a:r>
          </a:p>
        </p:txBody>
      </p:sp>
      <p:sp>
        <p:nvSpPr>
          <p:cNvPr id="3" name="Vertical Text Placeholder 2"/>
          <p:cNvSpPr>
            <a:spLocks noGrp="1"/>
          </p:cNvSpPr>
          <p:nvPr>
            <p:ph type="body" orient="vert" idx="1"/>
          </p:nvPr>
        </p:nvSpPr>
        <p:spPr/>
        <p:txBody>
          <a:bodyPr vert="eaVert" ancho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B61BEF0D-F0BB-DE4B-95CE-6DB70DBA9567}" type="datetimeFigureOut">
              <a:rPr lang="en-US" dirty="0"/>
              <a:pPr/>
              <a:t>8/16/2026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90784526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85212" y="685800"/>
            <a:ext cx="2057400" cy="4572000"/>
          </a:xfrm>
        </p:spPr>
        <p:txBody>
          <a:bodyPr vert="eaVert"/>
          <a:lstStyle/>
          <a:p>
            <a:r>
              <a:rPr lang="en-US" dirty="0"/>
              <a:t>Click to edit Master title style</a:t>
            </a:r>
          </a:p>
        </p:txBody>
      </p:sp>
      <p:sp>
        <p:nvSpPr>
          <p:cNvPr id="3" name="Vertical Text Placeholder 2"/>
          <p:cNvSpPr>
            <a:spLocks noGrp="1"/>
          </p:cNvSpPr>
          <p:nvPr>
            <p:ph type="body" orient="vert" idx="1"/>
          </p:nvPr>
        </p:nvSpPr>
        <p:spPr>
          <a:xfrm>
            <a:off x="685800" y="685800"/>
            <a:ext cx="7823200" cy="5308600"/>
          </a:xfrm>
        </p:spPr>
        <p:txBody>
          <a:bodyPr vert="eaVert" ancho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B61BEF0D-F0BB-DE4B-95CE-6DB70DBA9567}" type="datetimeFigureOut">
              <a:rPr lang="en-US" dirty="0"/>
              <a:pPr/>
              <a:t>8/16/2026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41814059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7" name="Group 6"/>
          <p:cNvGrpSpPr/>
          <p:nvPr/>
        </p:nvGrpSpPr>
        <p:grpSpPr>
          <a:xfrm>
            <a:off x="9206969" y="2963333"/>
            <a:ext cx="2981858" cy="3208867"/>
            <a:chOff x="9206969" y="2963333"/>
            <a:chExt cx="2981858" cy="3208867"/>
          </a:xfrm>
        </p:grpSpPr>
        <p:cxnSp>
          <p:nvCxnSpPr>
            <p:cNvPr id="8" name="Straight Connector 7"/>
            <p:cNvCxnSpPr/>
            <p:nvPr/>
          </p:nvCxnSpPr>
          <p:spPr>
            <a:xfrm flipH="1">
              <a:off x="11276012" y="2963333"/>
              <a:ext cx="912814" cy="912812"/>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flipH="1">
              <a:off x="9206969" y="3190344"/>
              <a:ext cx="2981857" cy="2981856"/>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Straight Connector 9"/>
            <p:cNvCxnSpPr/>
            <p:nvPr/>
          </p:nvCxnSpPr>
          <p:spPr>
            <a:xfrm flipH="1">
              <a:off x="10292292" y="3285067"/>
              <a:ext cx="1896534" cy="1896533"/>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flipH="1">
              <a:off x="10443103" y="3131080"/>
              <a:ext cx="1745722" cy="174572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p:nvCxnSpPr>
          <p:spPr>
            <a:xfrm flipH="1">
              <a:off x="10918826" y="3683001"/>
              <a:ext cx="1270001" cy="1269999"/>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2" name="Title Placeholder 1"/>
          <p:cNvSpPr>
            <a:spLocks noGrp="1"/>
          </p:cNvSpPr>
          <p:nvPr>
            <p:ph type="title"/>
          </p:nvPr>
        </p:nvSpPr>
        <p:spPr>
          <a:xfrm>
            <a:off x="684212" y="4487332"/>
            <a:ext cx="8534400" cy="1507067"/>
          </a:xfrm>
          <a:prstGeom prst="rect">
            <a:avLst/>
          </a:prstGeom>
          <a:effectLst/>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684212" y="685800"/>
            <a:ext cx="8534400" cy="3615267"/>
          </a:xfrm>
          <a:prstGeom prst="rect">
            <a:avLst/>
          </a:prstGeom>
        </p:spPr>
        <p:txBody>
          <a:bodyPr vert="horz" lIns="91440" tIns="45720" rIns="91440" bIns="45720" rtlCol="0" anchor="ct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9904412" y="6172200"/>
            <a:ext cx="1600200" cy="365125"/>
          </a:xfrm>
          <a:prstGeom prst="rect">
            <a:avLst/>
          </a:prstGeom>
        </p:spPr>
        <p:txBody>
          <a:bodyPr vert="horz" lIns="91440" tIns="45720" rIns="91440" bIns="45720" rtlCol="0" anchor="t"/>
          <a:lstStyle>
            <a:lvl1pPr algn="r">
              <a:defRPr sz="1000" b="0" i="0">
                <a:solidFill>
                  <a:schemeClr val="bg2">
                    <a:lumMod val="50000"/>
                  </a:schemeClr>
                </a:solidFill>
                <a:effectLst/>
                <a:latin typeface="+mn-lt"/>
              </a:defRPr>
            </a:lvl1pPr>
          </a:lstStyle>
          <a:p>
            <a:fld id="{B61BEF0D-F0BB-DE4B-95CE-6DB70DBA9567}" type="datetimeFigureOut">
              <a:rPr lang="en-US" dirty="0"/>
              <a:pPr/>
              <a:t>8/16/2026</a:t>
            </a:fld>
            <a:endParaRPr lang="en-US" dirty="0"/>
          </a:p>
        </p:txBody>
      </p:sp>
      <p:sp>
        <p:nvSpPr>
          <p:cNvPr id="5" name="Footer Placeholder 4"/>
          <p:cNvSpPr>
            <a:spLocks noGrp="1"/>
          </p:cNvSpPr>
          <p:nvPr>
            <p:ph type="ftr" sz="quarter" idx="3"/>
          </p:nvPr>
        </p:nvSpPr>
        <p:spPr>
          <a:xfrm>
            <a:off x="684212" y="6172200"/>
            <a:ext cx="7543800" cy="365125"/>
          </a:xfrm>
          <a:prstGeom prst="rect">
            <a:avLst/>
          </a:prstGeom>
        </p:spPr>
        <p:txBody>
          <a:bodyPr vert="horz" lIns="91440" tIns="45720" rIns="91440" bIns="45720" rtlCol="0" anchor="t"/>
          <a:lstStyle>
            <a:lvl1pPr algn="l">
              <a:defRPr sz="1000" b="0" i="0">
                <a:solidFill>
                  <a:schemeClr val="bg2">
                    <a:lumMod val="50000"/>
                  </a:schemeClr>
                </a:solidFill>
                <a:effectLst/>
                <a:latin typeface="+mn-lt"/>
              </a:defRPr>
            </a:lvl1pPr>
          </a:lstStyle>
          <a:p>
            <a:endParaRPr lang="en-US" dirty="0"/>
          </a:p>
        </p:txBody>
      </p:sp>
      <p:sp>
        <p:nvSpPr>
          <p:cNvPr id="6" name="Slide Number Placeholder 5"/>
          <p:cNvSpPr>
            <a:spLocks noGrp="1"/>
          </p:cNvSpPr>
          <p:nvPr>
            <p:ph type="sldNum" sz="quarter" idx="4"/>
          </p:nvPr>
        </p:nvSpPr>
        <p:spPr>
          <a:xfrm>
            <a:off x="10363200" y="5578475"/>
            <a:ext cx="1142245" cy="669925"/>
          </a:xfrm>
          <a:prstGeom prst="rect">
            <a:avLst/>
          </a:prstGeom>
        </p:spPr>
        <p:txBody>
          <a:bodyPr vert="horz" lIns="91440" tIns="45720" rIns="91440" bIns="45720" rtlCol="0" anchor="b"/>
          <a:lstStyle>
            <a:lvl1pPr algn="r">
              <a:defRPr sz="3200" b="0" i="0">
                <a:solidFill>
                  <a:schemeClr val="bg2">
                    <a:lumMod val="50000"/>
                  </a:schemeClr>
                </a:solidFill>
                <a:effectLst/>
                <a:latin typeface="+mn-lt"/>
              </a:defRPr>
            </a:lvl1pPr>
          </a:lstStyle>
          <a:p>
            <a:fld id="{D57F1E4F-1CFF-5643-939E-217C01CDF565}" type="slidenum">
              <a:rPr lang="en-US" dirty="0"/>
              <a:pPr/>
              <a:t>‹#›</a:t>
            </a:fld>
            <a:endParaRPr lang="en-US" dirty="0"/>
          </a:p>
        </p:txBody>
      </p:sp>
    </p:spTree>
    <p:extLst>
      <p:ext uri="{BB962C8B-B14F-4D97-AF65-F5344CB8AC3E}">
        <p14:creationId xmlns:p14="http://schemas.microsoft.com/office/powerpoint/2010/main" val="4166748217"/>
      </p:ext>
    </p:extLst>
  </p:cSld>
  <p:clrMap bg1="dk1" tx1="lt1" bg2="dk2" tx2="lt2" accent1="accent1" accent2="accent2" accent3="accent3" accent4="accent4" accent5="accent5" accent6="accent6" hlink="hlink" folHlink="folHlink"/>
  <p:sldLayoutIdLst>
    <p:sldLayoutId id="2147483720" r:id="rId1"/>
    <p:sldLayoutId id="2147483721" r:id="rId2"/>
    <p:sldLayoutId id="2147483722" r:id="rId3"/>
    <p:sldLayoutId id="2147483723" r:id="rId4"/>
    <p:sldLayoutId id="2147483724" r:id="rId5"/>
    <p:sldLayoutId id="2147483725" r:id="rId6"/>
    <p:sldLayoutId id="2147483726" r:id="rId7"/>
    <p:sldLayoutId id="2147483727" r:id="rId8"/>
    <p:sldLayoutId id="2147483728" r:id="rId9"/>
    <p:sldLayoutId id="2147483729" r:id="rId10"/>
    <p:sldLayoutId id="2147483730" r:id="rId11"/>
    <p:sldLayoutId id="2147483731" r:id="rId12"/>
    <p:sldLayoutId id="2147483732" r:id="rId13"/>
    <p:sldLayoutId id="2147483733" r:id="rId14"/>
    <p:sldLayoutId id="2147483734" r:id="rId15"/>
    <p:sldLayoutId id="2147483735" r:id="rId16"/>
    <p:sldLayoutId id="2147483736"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2000" kern="1200" cap="none">
          <a:solidFill>
            <a:schemeClr val="bg2">
              <a:lumMod val="7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800" kern="1200" cap="none">
          <a:solidFill>
            <a:schemeClr val="bg2">
              <a:lumMod val="7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600" kern="1200" cap="none">
          <a:solidFill>
            <a:schemeClr val="bg2">
              <a:lumMod val="7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6.xml.rels><?xml version="1.0" encoding="UTF-8" standalone="yes"?>
<Relationships xmlns="http://schemas.openxmlformats.org/package/2006/relationships"><Relationship Id="rId3" Type="http://schemas.openxmlformats.org/officeDocument/2006/relationships/hyperlink" Target="https://doi.org/10.3127/ajis.v27i0.4501" TargetMode="External"/><Relationship Id="rId2" Type="http://schemas.openxmlformats.org/officeDocument/2006/relationships/hyperlink" Target="https://doi.org/10.1109/TSE.2021.3069039" TargetMode="External"/><Relationship Id="rId1" Type="http://schemas.openxmlformats.org/officeDocument/2006/relationships/slideLayout" Target="../slideLayouts/slideLayout2.xml"/><Relationship Id="rId5" Type="http://schemas.openxmlformats.org/officeDocument/2006/relationships/hyperlink" Target="https://doi.org/10.1007/s10664-020-09899-4" TargetMode="External"/><Relationship Id="rId4" Type="http://schemas.openxmlformats.org/officeDocument/2006/relationships/hyperlink" Target="https://doi.org/10.5937/tehnika2505545C"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ln>
            <a:noFill/>
          </a:ln>
        </p:spPr>
        <p:txBody>
          <a:bodyPr vert="horz" lIns="91440" tIns="45720" rIns="91440" bIns="45720" rtlCol="0" anchor="b">
            <a:noAutofit/>
          </a:bodyPr>
          <a:lstStyle/>
          <a:p>
            <a:r>
              <a:rPr lang="en-US" sz="4000" dirty="0">
                <a:solidFill>
                  <a:schemeClr val="bg1"/>
                </a:solidFill>
                <a:highlight>
                  <a:srgbClr val="FFFF00"/>
                </a:highlight>
                <a:latin typeface="Times New Roman"/>
                <a:ea typeface="+mj-lt"/>
                <a:cs typeface="Times New Roman"/>
              </a:rPr>
              <a:t>Transitioning </a:t>
            </a:r>
            <a:r>
              <a:rPr lang="en-US" sz="4000" dirty="0" err="1">
                <a:solidFill>
                  <a:schemeClr val="bg1"/>
                </a:solidFill>
                <a:highlight>
                  <a:srgbClr val="FFFF00"/>
                </a:highlight>
                <a:latin typeface="Times New Roman"/>
                <a:ea typeface="+mj-lt"/>
                <a:cs typeface="Times New Roman"/>
              </a:rPr>
              <a:t>ChadaTech</a:t>
            </a:r>
            <a:r>
              <a:rPr lang="en-US" sz="4000" dirty="0">
                <a:solidFill>
                  <a:schemeClr val="bg1"/>
                </a:solidFill>
                <a:highlight>
                  <a:srgbClr val="FFFF00"/>
                </a:highlight>
                <a:latin typeface="Times New Roman"/>
                <a:ea typeface="+mj-lt"/>
                <a:cs typeface="Times New Roman"/>
              </a:rPr>
              <a:t> to Agile: SNHU Travel Pilot Insights</a:t>
            </a:r>
            <a:endParaRPr lang="en-US" sz="4000">
              <a:solidFill>
                <a:schemeClr val="bg1"/>
              </a:solidFill>
              <a:highlight>
                <a:srgbClr val="FFFF00"/>
              </a:highlight>
              <a:latin typeface="Times New Roman"/>
              <a:cs typeface="Times New Roman"/>
            </a:endParaRPr>
          </a:p>
        </p:txBody>
      </p:sp>
      <p:sp>
        <p:nvSpPr>
          <p:cNvPr id="3" name="Subtitle 2"/>
          <p:cNvSpPr>
            <a:spLocks noGrp="1"/>
          </p:cNvSpPr>
          <p:nvPr>
            <p:ph type="subTitle" idx="1"/>
          </p:nvPr>
        </p:nvSpPr>
        <p:spPr/>
        <p:txBody>
          <a:bodyPr vert="horz" lIns="91440" tIns="45720" rIns="91440" bIns="45720" rtlCol="0" anchor="t">
            <a:normAutofit/>
          </a:bodyPr>
          <a:lstStyle/>
          <a:p>
            <a:r>
              <a:rPr lang="en-US">
                <a:solidFill>
                  <a:schemeClr val="tx1"/>
                </a:solidFill>
                <a:latin typeface="Times New Roman"/>
                <a:ea typeface="+mn-lt"/>
                <a:cs typeface="Times New Roman"/>
              </a:rPr>
              <a:t>Evaluating Scrum-Agile vs. Waterfall Methodologies for Organizational Transformation</a:t>
            </a:r>
            <a:endParaRPr lang="en-US">
              <a:solidFill>
                <a:schemeClr val="tx1"/>
              </a:solidFill>
              <a:latin typeface="Times New Roman"/>
              <a:cs typeface="Times New Roman"/>
            </a:endParaRPr>
          </a:p>
        </p:txBody>
      </p:sp>
      <p:sp>
        <p:nvSpPr>
          <p:cNvPr id="4" name="TextBox 3">
            <a:extLst>
              <a:ext uri="{FF2B5EF4-FFF2-40B4-BE49-F238E27FC236}">
                <a16:creationId xmlns:a16="http://schemas.microsoft.com/office/drawing/2014/main" id="{E9CC19C2-54E2-563F-00A3-448967CB24A4}"/>
              </a:ext>
            </a:extLst>
          </p:cNvPr>
          <p:cNvSpPr txBox="1"/>
          <p:nvPr/>
        </p:nvSpPr>
        <p:spPr>
          <a:xfrm>
            <a:off x="7082840" y="5465024"/>
            <a:ext cx="495003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Dmitriy Razzhivin, Scrum Master </a:t>
            </a:r>
          </a:p>
          <a:p>
            <a:r>
              <a:rPr lang="en-US" dirty="0" err="1"/>
              <a:t>ChadaTech</a:t>
            </a:r>
            <a:r>
              <a:rPr lang="en-US" dirty="0"/>
              <a:t> Custom Software Solutions</a:t>
            </a:r>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5" name="Content Placeholder 134">
            <a:extLst>
              <a:ext uri="{FF2B5EF4-FFF2-40B4-BE49-F238E27FC236}">
                <a16:creationId xmlns:a16="http://schemas.microsoft.com/office/drawing/2014/main" id="{AFFF8862-A2FE-6310-7321-059661E5B91E}"/>
              </a:ext>
            </a:extLst>
          </p:cNvPr>
          <p:cNvGraphicFramePr>
            <a:graphicFrameLocks noGrp="1"/>
          </p:cNvGraphicFramePr>
          <p:nvPr>
            <p:ph idx="1"/>
            <p:extLst>
              <p:ext uri="{D42A27DB-BD31-4B8C-83A1-F6EECF244321}">
                <p14:modId xmlns:p14="http://schemas.microsoft.com/office/powerpoint/2010/main" val="3985310546"/>
              </p:ext>
            </p:extLst>
          </p:nvPr>
        </p:nvGraphicFramePr>
        <p:xfrm>
          <a:off x="204252" y="71290"/>
          <a:ext cx="11785268" cy="643512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7241309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6B0C42-89C6-5736-8B2F-364CE7FEC754}"/>
              </a:ext>
            </a:extLst>
          </p:cNvPr>
          <p:cNvSpPr>
            <a:spLocks noGrp="1"/>
          </p:cNvSpPr>
          <p:nvPr>
            <p:ph type="title"/>
          </p:nvPr>
        </p:nvSpPr>
        <p:spPr>
          <a:xfrm>
            <a:off x="401183" y="207069"/>
            <a:ext cx="11077302" cy="1511421"/>
          </a:xfrm>
        </p:spPr>
        <p:txBody>
          <a:bodyPr/>
          <a:lstStyle/>
          <a:p>
            <a:r>
              <a:rPr lang="en-US">
                <a:solidFill>
                  <a:schemeClr val="bg1"/>
                </a:solidFill>
                <a:highlight>
                  <a:srgbClr val="FFFF00"/>
                </a:highlight>
                <a:latin typeface="Times New Roman"/>
                <a:cs typeface="Times New Roman"/>
              </a:rPr>
              <a:t>Iterative Software Development</a:t>
            </a:r>
            <a:br>
              <a:rPr lang="en-US" dirty="0">
                <a:solidFill>
                  <a:schemeClr val="bg1"/>
                </a:solidFill>
                <a:highlight>
                  <a:srgbClr val="FFFF00"/>
                </a:highlight>
                <a:latin typeface="Times New Roman"/>
                <a:cs typeface="Times New Roman"/>
              </a:rPr>
            </a:br>
            <a:r>
              <a:rPr lang="en-US">
                <a:solidFill>
                  <a:schemeClr val="bg1"/>
                </a:solidFill>
                <a:highlight>
                  <a:srgbClr val="FFFF00"/>
                </a:highlight>
                <a:latin typeface="Times New Roman"/>
                <a:cs typeface="Times New Roman"/>
              </a:rPr>
              <a:t> life cycle (SDLC)</a:t>
            </a:r>
          </a:p>
        </p:txBody>
      </p:sp>
      <p:graphicFrame>
        <p:nvGraphicFramePr>
          <p:cNvPr id="4" name="Content Placeholder 3">
            <a:extLst>
              <a:ext uri="{FF2B5EF4-FFF2-40B4-BE49-F238E27FC236}">
                <a16:creationId xmlns:a16="http://schemas.microsoft.com/office/drawing/2014/main" id="{9F85BDDE-F90B-66D5-D1AD-D68951384A41}"/>
              </a:ext>
            </a:extLst>
          </p:cNvPr>
          <p:cNvGraphicFramePr>
            <a:graphicFrameLocks noGrp="1"/>
          </p:cNvGraphicFramePr>
          <p:nvPr>
            <p:ph idx="1"/>
            <p:extLst>
              <p:ext uri="{D42A27DB-BD31-4B8C-83A1-F6EECF244321}">
                <p14:modId xmlns:p14="http://schemas.microsoft.com/office/powerpoint/2010/main" val="475364591"/>
              </p:ext>
            </p:extLst>
          </p:nvPr>
        </p:nvGraphicFramePr>
        <p:xfrm>
          <a:off x="1350418" y="2096591"/>
          <a:ext cx="9135292" cy="383245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130" name="TextBox 1129">
            <a:extLst>
              <a:ext uri="{FF2B5EF4-FFF2-40B4-BE49-F238E27FC236}">
                <a16:creationId xmlns:a16="http://schemas.microsoft.com/office/drawing/2014/main" id="{510B0102-468E-3528-55BF-8350E0CAB559}"/>
              </a:ext>
            </a:extLst>
          </p:cNvPr>
          <p:cNvSpPr txBox="1"/>
          <p:nvPr/>
        </p:nvSpPr>
        <p:spPr>
          <a:xfrm>
            <a:off x="4567584" y="3550121"/>
            <a:ext cx="2697840"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dirty="0"/>
              <a:t>4-Phase </a:t>
            </a:r>
            <a:r>
              <a:rPr lang="en-US"/>
              <a:t>Iterative</a:t>
            </a:r>
            <a:endParaRPr lang="en-US" dirty="0"/>
          </a:p>
          <a:p>
            <a:pPr algn="ctr"/>
            <a:r>
              <a:rPr lang="en-US" dirty="0"/>
              <a:t>Cycle </a:t>
            </a:r>
            <a:r>
              <a:rPr lang="en-US"/>
              <a:t>Diagram</a:t>
            </a:r>
          </a:p>
          <a:p>
            <a:endParaRPr lang="en-US" dirty="0"/>
          </a:p>
        </p:txBody>
      </p:sp>
      <p:sp>
        <p:nvSpPr>
          <p:cNvPr id="1194" name="TextBox 1193">
            <a:extLst>
              <a:ext uri="{FF2B5EF4-FFF2-40B4-BE49-F238E27FC236}">
                <a16:creationId xmlns:a16="http://schemas.microsoft.com/office/drawing/2014/main" id="{B01F7440-7878-DCB3-E4B3-472BC6F4CFAB}"/>
              </a:ext>
            </a:extLst>
          </p:cNvPr>
          <p:cNvSpPr txBox="1"/>
          <p:nvPr/>
        </p:nvSpPr>
        <p:spPr>
          <a:xfrm>
            <a:off x="86021" y="1724859"/>
            <a:ext cx="4246774" cy="738664"/>
          </a:xfrm>
          <a:prstGeom prst="rect">
            <a:avLst/>
          </a:prstGeom>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a:solidFill>
                  <a:srgbClr val="000000"/>
                </a:solidFill>
                <a:latin typeface="Times New Roman"/>
                <a:ea typeface="+mn-lt"/>
                <a:cs typeface="Times New Roman"/>
              </a:rPr>
              <a:t>Team selects high-priority user stories from the Product Backlog based on empirical velocity and defines a concrete Sprint Goal.</a:t>
            </a:r>
            <a:endParaRPr lang="en-US" sz="1400">
              <a:latin typeface="Times New Roman"/>
              <a:cs typeface="Times New Roman"/>
            </a:endParaRPr>
          </a:p>
        </p:txBody>
      </p:sp>
      <p:sp>
        <p:nvSpPr>
          <p:cNvPr id="1205" name="TextBox 1204">
            <a:extLst>
              <a:ext uri="{FF2B5EF4-FFF2-40B4-BE49-F238E27FC236}">
                <a16:creationId xmlns:a16="http://schemas.microsoft.com/office/drawing/2014/main" id="{93A29B1A-B6C4-C483-6D77-01F730625530}"/>
              </a:ext>
            </a:extLst>
          </p:cNvPr>
          <p:cNvSpPr txBox="1"/>
          <p:nvPr/>
        </p:nvSpPr>
        <p:spPr>
          <a:xfrm>
            <a:off x="7598824" y="1714210"/>
            <a:ext cx="4519747" cy="738664"/>
          </a:xfrm>
          <a:prstGeom prst="rect">
            <a:avLst/>
          </a:prstGeom>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a:solidFill>
                  <a:srgbClr val="000000"/>
                </a:solidFill>
                <a:latin typeface="Times New Roman"/>
                <a:ea typeface="+mn-lt"/>
                <a:cs typeface="Times New Roman"/>
              </a:rPr>
              <a:t>Modular coding, daily standups, pair programming, and continuous verification occur simultaneously; adheres strictly to a standardized Definition of Done (DoD).</a:t>
            </a:r>
            <a:endParaRPr lang="en-US" sz="1400">
              <a:latin typeface="Times New Roman"/>
              <a:cs typeface="Times New Roman"/>
            </a:endParaRPr>
          </a:p>
        </p:txBody>
      </p:sp>
      <p:sp>
        <p:nvSpPr>
          <p:cNvPr id="1206" name="TextBox 1205">
            <a:extLst>
              <a:ext uri="{FF2B5EF4-FFF2-40B4-BE49-F238E27FC236}">
                <a16:creationId xmlns:a16="http://schemas.microsoft.com/office/drawing/2014/main" id="{42B717AB-D595-E47A-8304-395F491350A2}"/>
              </a:ext>
            </a:extLst>
          </p:cNvPr>
          <p:cNvSpPr txBox="1"/>
          <p:nvPr/>
        </p:nvSpPr>
        <p:spPr>
          <a:xfrm>
            <a:off x="191306" y="5757744"/>
            <a:ext cx="4474544" cy="523220"/>
          </a:xfrm>
          <a:prstGeom prst="rect">
            <a:avLst/>
          </a:prstGeom>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a:solidFill>
                  <a:srgbClr val="000000"/>
                </a:solidFill>
                <a:latin typeface="Times New Roman"/>
                <a:ea typeface="+mn-lt"/>
                <a:cs typeface="Times New Roman"/>
              </a:rPr>
              <a:t>Live demonstration of working, tested software increments to stakeholders to gather immediate feedback.</a:t>
            </a:r>
            <a:endParaRPr lang="en-US" sz="1400">
              <a:latin typeface="Times New Roman"/>
              <a:cs typeface="Times New Roman"/>
            </a:endParaRPr>
          </a:p>
        </p:txBody>
      </p:sp>
      <p:sp>
        <p:nvSpPr>
          <p:cNvPr id="1225" name="TextBox 1224">
            <a:extLst>
              <a:ext uri="{FF2B5EF4-FFF2-40B4-BE49-F238E27FC236}">
                <a16:creationId xmlns:a16="http://schemas.microsoft.com/office/drawing/2014/main" id="{C394019D-7954-15E9-1E38-1275E92546C7}"/>
              </a:ext>
            </a:extLst>
          </p:cNvPr>
          <p:cNvSpPr txBox="1"/>
          <p:nvPr/>
        </p:nvSpPr>
        <p:spPr>
          <a:xfrm>
            <a:off x="7154249" y="5648574"/>
            <a:ext cx="4859382" cy="738664"/>
          </a:xfrm>
          <a:prstGeom prst="rect">
            <a:avLst/>
          </a:prstGeom>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a:solidFill>
                  <a:srgbClr val="000000"/>
                </a:solidFill>
                <a:latin typeface="Times New Roman"/>
                <a:ea typeface="+mn-lt"/>
                <a:cs typeface="Times New Roman"/>
              </a:rPr>
              <a:t>Team inspects operational workflows, communication patterns, and tooling to identify specific process improvements for subsequent sprints. (Edison et al., 2022)</a:t>
            </a:r>
            <a:endParaRPr lang="en-US" sz="1400">
              <a:latin typeface="Times New Roman"/>
              <a:cs typeface="Times New Roman"/>
            </a:endParaRPr>
          </a:p>
        </p:txBody>
      </p:sp>
    </p:spTree>
    <p:extLst>
      <p:ext uri="{BB962C8B-B14F-4D97-AF65-F5344CB8AC3E}">
        <p14:creationId xmlns:p14="http://schemas.microsoft.com/office/powerpoint/2010/main" val="34376916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2BDEF5-05DD-59B8-7A61-B20DD443ED44}"/>
              </a:ext>
            </a:extLst>
          </p:cNvPr>
          <p:cNvSpPr>
            <a:spLocks noGrp="1"/>
          </p:cNvSpPr>
          <p:nvPr>
            <p:ph type="title"/>
          </p:nvPr>
        </p:nvSpPr>
        <p:spPr>
          <a:xfrm>
            <a:off x="224349" y="123648"/>
            <a:ext cx="7963989" cy="980199"/>
          </a:xfrm>
        </p:spPr>
        <p:txBody>
          <a:bodyPr>
            <a:normAutofit fontScale="90000"/>
          </a:bodyPr>
          <a:lstStyle/>
          <a:p>
            <a:r>
              <a:rPr lang="en-US">
                <a:solidFill>
                  <a:srgbClr val="000000"/>
                </a:solidFill>
                <a:highlight>
                  <a:srgbClr val="FFFF00"/>
                </a:highlight>
                <a:latin typeface="Times New Roman"/>
                <a:ea typeface="+mj-lt"/>
                <a:cs typeface="Times New Roman"/>
              </a:rPr>
              <a:t>Waterfall vs. Agile: SNHU Travel Comparison</a:t>
            </a:r>
            <a:endParaRPr lang="en-US">
              <a:highlight>
                <a:srgbClr val="FFFF00"/>
              </a:highlight>
              <a:latin typeface="Times New Roman"/>
              <a:cs typeface="Times New Roman"/>
            </a:endParaRPr>
          </a:p>
        </p:txBody>
      </p:sp>
      <p:graphicFrame>
        <p:nvGraphicFramePr>
          <p:cNvPr id="29" name="Table 28">
            <a:extLst>
              <a:ext uri="{FF2B5EF4-FFF2-40B4-BE49-F238E27FC236}">
                <a16:creationId xmlns:a16="http://schemas.microsoft.com/office/drawing/2014/main" id="{2B569FAC-A893-C139-A17D-D42C9C26DACA}"/>
              </a:ext>
            </a:extLst>
          </p:cNvPr>
          <p:cNvGraphicFramePr>
            <a:graphicFrameLocks noGrp="1"/>
          </p:cNvGraphicFramePr>
          <p:nvPr>
            <p:extLst>
              <p:ext uri="{D42A27DB-BD31-4B8C-83A1-F6EECF244321}">
                <p14:modId xmlns:p14="http://schemas.microsoft.com/office/powerpoint/2010/main" val="3674507105"/>
              </p:ext>
            </p:extLst>
          </p:nvPr>
        </p:nvGraphicFramePr>
        <p:xfrm>
          <a:off x="686191" y="1189001"/>
          <a:ext cx="10131219" cy="5167333"/>
        </p:xfrm>
        <a:graphic>
          <a:graphicData uri="http://schemas.openxmlformats.org/drawingml/2006/table">
            <a:tbl>
              <a:tblPr firstRow="1" bandRow="1">
                <a:tableStyleId>{5C22544A-7EE6-4342-B048-85BDC9FD1C3A}</a:tableStyleId>
              </a:tblPr>
              <a:tblGrid>
                <a:gridCol w="3377073">
                  <a:extLst>
                    <a:ext uri="{9D8B030D-6E8A-4147-A177-3AD203B41FA5}">
                      <a16:colId xmlns:a16="http://schemas.microsoft.com/office/drawing/2014/main" val="3342254780"/>
                    </a:ext>
                  </a:extLst>
                </a:gridCol>
                <a:gridCol w="3377073">
                  <a:extLst>
                    <a:ext uri="{9D8B030D-6E8A-4147-A177-3AD203B41FA5}">
                      <a16:colId xmlns:a16="http://schemas.microsoft.com/office/drawing/2014/main" val="2560631198"/>
                    </a:ext>
                  </a:extLst>
                </a:gridCol>
                <a:gridCol w="3377073">
                  <a:extLst>
                    <a:ext uri="{9D8B030D-6E8A-4147-A177-3AD203B41FA5}">
                      <a16:colId xmlns:a16="http://schemas.microsoft.com/office/drawing/2014/main" val="3903266160"/>
                    </a:ext>
                  </a:extLst>
                </a:gridCol>
              </a:tblGrid>
              <a:tr h="412453">
                <a:tc>
                  <a:txBody>
                    <a:bodyPr/>
                    <a:lstStyle/>
                    <a:p>
                      <a:pPr algn="ctr"/>
                      <a:r>
                        <a:rPr lang="en-US" sz="1600" b="0" dirty="0">
                          <a:latin typeface="Times New Roman"/>
                          <a:cs typeface="Times New Roman"/>
                        </a:rPr>
                        <a:t>Evaluation Dimens</a:t>
                      </a:r>
                      <a:r>
                        <a:rPr lang="en-US" sz="1600" b="0">
                          <a:latin typeface="Times New Roman"/>
                          <a:cs typeface="Times New Roman"/>
                        </a:rPr>
                        <a:t>ion</a:t>
                      </a:r>
                    </a:p>
                  </a:txBody>
                  <a:tcPr/>
                </a:tc>
                <a:tc>
                  <a:txBody>
                    <a:bodyPr/>
                    <a:lstStyle/>
                    <a:p>
                      <a:pPr lvl="0" algn="ctr">
                        <a:buNone/>
                      </a:pPr>
                      <a:r>
                        <a:rPr lang="en-US" sz="1600" b="0" i="0" u="none" strike="noStrike" noProof="0">
                          <a:solidFill>
                            <a:schemeClr val="tx1"/>
                          </a:solidFill>
                          <a:latin typeface="Times New Roman"/>
                          <a:cs typeface="Times New Roman"/>
                        </a:rPr>
                        <a:t>Traditional Waterfall Model</a:t>
                      </a:r>
                      <a:endParaRPr lang="en-US" sz="1600">
                        <a:solidFill>
                          <a:schemeClr val="tx1"/>
                        </a:solidFill>
                        <a:latin typeface="Times New Roman"/>
                        <a:cs typeface="Times New Roman"/>
                      </a:endParaRPr>
                    </a:p>
                  </a:txBody>
                  <a:tcPr/>
                </a:tc>
                <a:tc>
                  <a:txBody>
                    <a:bodyPr/>
                    <a:lstStyle/>
                    <a:p>
                      <a:pPr lvl="0" algn="ctr">
                        <a:buNone/>
                      </a:pPr>
                      <a:r>
                        <a:rPr lang="en-US" sz="1600" b="0" i="0" u="none" strike="noStrike" noProof="0">
                          <a:solidFill>
                            <a:schemeClr val="tx1"/>
                          </a:solidFill>
                          <a:latin typeface="Times New Roman"/>
                          <a:cs typeface="Times New Roman"/>
                        </a:rPr>
                        <a:t>Pilot Scrum-Agile Approach</a:t>
                      </a:r>
                      <a:endParaRPr lang="en-US" sz="1600">
                        <a:solidFill>
                          <a:schemeClr val="tx1"/>
                        </a:solidFill>
                        <a:latin typeface="Times New Roman"/>
                        <a:cs typeface="Times New Roman"/>
                      </a:endParaRPr>
                    </a:p>
                  </a:txBody>
                  <a:tcPr/>
                </a:tc>
                <a:extLst>
                  <a:ext uri="{0D108BD9-81ED-4DB2-BD59-A6C34878D82A}">
                    <a16:rowId xmlns:a16="http://schemas.microsoft.com/office/drawing/2014/main" val="1194645355"/>
                  </a:ext>
                </a:extLst>
              </a:tr>
              <a:tr h="1747302">
                <a:tc>
                  <a:txBody>
                    <a:bodyPr/>
                    <a:lstStyle/>
                    <a:p>
                      <a:pPr lvl="0">
                        <a:buNone/>
                      </a:pPr>
                      <a:r>
                        <a:rPr lang="en-US" sz="1600" b="1" i="0" u="none" strike="noStrike" noProof="0">
                          <a:solidFill>
                            <a:srgbClr val="000000"/>
                          </a:solidFill>
                          <a:latin typeface="Times New Roman"/>
                          <a:cs typeface="Times New Roman"/>
                        </a:rPr>
                        <a:t>Requirements &amp; Scope Management</a:t>
                      </a:r>
                      <a:endParaRPr lang="en-US" sz="1600" b="1">
                        <a:latin typeface="Times New Roman"/>
                        <a:cs typeface="Times New Roman"/>
                      </a:endParaRPr>
                    </a:p>
                  </a:txBody>
                  <a:tcPr/>
                </a:tc>
                <a:tc>
                  <a:txBody>
                    <a:bodyPr/>
                    <a:lstStyle/>
                    <a:p>
                      <a:pPr marL="285750" lvl="0" indent="-285750">
                        <a:buFont typeface="Arial"/>
                        <a:buChar char="•"/>
                      </a:pPr>
                      <a:r>
                        <a:rPr lang="en-US" sz="1600" b="0" i="0" u="none" strike="noStrike" noProof="0">
                          <a:solidFill>
                            <a:srgbClr val="000000"/>
                          </a:solidFill>
                          <a:latin typeface="Times New Roman"/>
                          <a:cs typeface="Times New Roman"/>
                        </a:rPr>
                        <a:t>Requirements locked upfront in rigid specification documents.</a:t>
                      </a:r>
                    </a:p>
                    <a:p>
                      <a:pPr marL="0" lvl="0" indent="0">
                        <a:buNone/>
                      </a:pPr>
                      <a:endParaRPr lang="en-US" sz="1600" b="0" i="0" u="none" strike="noStrike" noProof="0" dirty="0">
                        <a:solidFill>
                          <a:srgbClr val="000000"/>
                        </a:solidFill>
                        <a:latin typeface="Times New Roman"/>
                        <a:cs typeface="Times New Roman"/>
                      </a:endParaRPr>
                    </a:p>
                    <a:p>
                      <a:pPr marL="285750" lvl="0" indent="-285750" algn="l">
                        <a:lnSpc>
                          <a:spcPct val="100000"/>
                        </a:lnSpc>
                        <a:spcBef>
                          <a:spcPts val="0"/>
                        </a:spcBef>
                        <a:spcAft>
                          <a:spcPts val="0"/>
                        </a:spcAft>
                        <a:buFont typeface="Arial"/>
                        <a:buChar char="•"/>
                      </a:pPr>
                      <a:r>
                        <a:rPr lang="en-US" sz="1600" b="0" i="0" u="none" strike="noStrike" noProof="0">
                          <a:solidFill>
                            <a:srgbClr val="000000"/>
                          </a:solidFill>
                          <a:latin typeface="Times New Roman"/>
                          <a:cs typeface="Times New Roman"/>
                        </a:rPr>
                        <a:t>Mid-development scope changes trigger formal change orders and project halts.</a:t>
                      </a:r>
                    </a:p>
                    <a:p>
                      <a:pPr lvl="0">
                        <a:buNone/>
                      </a:pPr>
                      <a:endParaRPr lang="en-US" sz="1600" b="0" i="0" u="none" strike="noStrike" noProof="0" dirty="0">
                        <a:solidFill>
                          <a:srgbClr val="000000"/>
                        </a:solidFill>
                        <a:latin typeface="Times New Roman"/>
                        <a:cs typeface="Times New Roman"/>
                      </a:endParaRPr>
                    </a:p>
                  </a:txBody>
                  <a:tcPr/>
                </a:tc>
                <a:tc>
                  <a:txBody>
                    <a:bodyPr/>
                    <a:lstStyle/>
                    <a:p>
                      <a:pPr marL="285750" indent="-285750">
                        <a:buFont typeface="Arial"/>
                        <a:buChar char="•"/>
                      </a:pPr>
                      <a:r>
                        <a:rPr lang="en-US" sz="1600" b="0" i="0" u="none" strike="noStrike" noProof="0">
                          <a:solidFill>
                            <a:srgbClr val="000000"/>
                          </a:solidFill>
                          <a:latin typeface="Times New Roman"/>
                          <a:cs typeface="Times New Roman"/>
                        </a:rPr>
                        <a:t>Dynamic Product Backlog continuously prioritized for customer value.</a:t>
                      </a:r>
                    </a:p>
                    <a:p>
                      <a:pPr marL="285750" lvl="0" indent="-285750">
                        <a:buFont typeface="Arial"/>
                        <a:buChar char="•"/>
                      </a:pPr>
                      <a:r>
                        <a:rPr lang="en-US" sz="1600" b="0" i="0" u="none" strike="noStrike" noProof="0">
                          <a:solidFill>
                            <a:srgbClr val="000000"/>
                          </a:solidFill>
                          <a:latin typeface="Times New Roman"/>
                          <a:cs typeface="Times New Roman"/>
                        </a:rPr>
                        <a:t>Requirements evolve naturally through short, 2-week sprint cadences.</a:t>
                      </a:r>
                    </a:p>
                  </a:txBody>
                  <a:tcPr/>
                </a:tc>
                <a:extLst>
                  <a:ext uri="{0D108BD9-81ED-4DB2-BD59-A6C34878D82A}">
                    <a16:rowId xmlns:a16="http://schemas.microsoft.com/office/drawing/2014/main" val="3347070276"/>
                  </a:ext>
                </a:extLst>
              </a:tr>
              <a:tr h="719918">
                <a:tc>
                  <a:txBody>
                    <a:bodyPr/>
                    <a:lstStyle/>
                    <a:p>
                      <a:pPr lvl="0">
                        <a:buNone/>
                      </a:pPr>
                      <a:r>
                        <a:rPr lang="en-US" sz="1600" b="1" i="0" u="none" strike="noStrike" noProof="0">
                          <a:solidFill>
                            <a:srgbClr val="000000"/>
                          </a:solidFill>
                          <a:latin typeface="Times New Roman"/>
                          <a:cs typeface="Times New Roman"/>
                        </a:rPr>
                        <a:t>Handling the SNHU Travel Pivot</a:t>
                      </a:r>
                      <a:endParaRPr lang="en-US" sz="1600" b="1">
                        <a:latin typeface="Times New Roman"/>
                        <a:cs typeface="Times New Roman"/>
                      </a:endParaRPr>
                    </a:p>
                  </a:txBody>
                  <a:tcPr/>
                </a:tc>
                <a:tc>
                  <a:txBody>
                    <a:bodyPr/>
                    <a:lstStyle/>
                    <a:p>
                      <a:pPr lvl="0" algn="l">
                        <a:lnSpc>
                          <a:spcPct val="100000"/>
                        </a:lnSpc>
                        <a:spcBef>
                          <a:spcPts val="0"/>
                        </a:spcBef>
                        <a:spcAft>
                          <a:spcPts val="0"/>
                        </a:spcAft>
                        <a:buNone/>
                      </a:pPr>
                      <a:r>
                        <a:rPr lang="en-US" sz="1600" b="0" i="0" u="none" strike="noStrike" noProof="0">
                          <a:solidFill>
                            <a:srgbClr val="000000"/>
                          </a:solidFill>
                          <a:latin typeface="Times New Roman"/>
                          <a:cs typeface="Times New Roman"/>
                        </a:rPr>
                        <a:t>Discarded code and delayed milestones when UI assets, aspect ratios, and destination models changed.</a:t>
                      </a:r>
                    </a:p>
                  </a:txBody>
                  <a:tcPr/>
                </a:tc>
                <a:tc>
                  <a:txBody>
                    <a:bodyPr/>
                    <a:lstStyle/>
                    <a:p>
                      <a:pPr lvl="0">
                        <a:buNone/>
                      </a:pPr>
                      <a:r>
                        <a:rPr lang="en-US" sz="1600" b="0" i="0" u="none" strike="noStrike" noProof="0">
                          <a:solidFill>
                            <a:srgbClr val="000000"/>
                          </a:solidFill>
                          <a:latin typeface="Times New Roman"/>
                          <a:cs typeface="Times New Roman"/>
                        </a:rPr>
                        <a:t>Handled cleanly within next Sprint Planning; modular architecture preserved without team burnout.</a:t>
                      </a:r>
                      <a:endParaRPr lang="en-US">
                        <a:latin typeface="Times New Roman"/>
                        <a:cs typeface="Times New Roman"/>
                      </a:endParaRPr>
                    </a:p>
                  </a:txBody>
                  <a:tcPr/>
                </a:tc>
                <a:extLst>
                  <a:ext uri="{0D108BD9-81ED-4DB2-BD59-A6C34878D82A}">
                    <a16:rowId xmlns:a16="http://schemas.microsoft.com/office/drawing/2014/main" val="140332087"/>
                  </a:ext>
                </a:extLst>
              </a:tr>
              <a:tr h="997387">
                <a:tc>
                  <a:txBody>
                    <a:bodyPr/>
                    <a:lstStyle/>
                    <a:p>
                      <a:pPr lvl="0">
                        <a:buNone/>
                      </a:pPr>
                      <a:r>
                        <a:rPr lang="en-US" sz="1600" b="1" i="0" u="none" strike="noStrike" noProof="0">
                          <a:solidFill>
                            <a:srgbClr val="000000"/>
                          </a:solidFill>
                          <a:latin typeface="Times New Roman"/>
                          <a:cs typeface="Times New Roman"/>
                        </a:rPr>
                        <a:t>Quality &amp; Integration Testing</a:t>
                      </a:r>
                      <a:endParaRPr lang="en-US" sz="1600" b="1">
                        <a:latin typeface="Times New Roman"/>
                        <a:cs typeface="Times New Roman"/>
                      </a:endParaRPr>
                    </a:p>
                  </a:txBody>
                  <a:tcPr/>
                </a:tc>
                <a:tc>
                  <a:txBody>
                    <a:bodyPr/>
                    <a:lstStyle/>
                    <a:p>
                      <a:pPr lvl="0">
                        <a:buNone/>
                      </a:pPr>
                      <a:r>
                        <a:rPr lang="en-US" sz="1600" b="0" i="0" u="none" strike="noStrike" noProof="0">
                          <a:solidFill>
                            <a:srgbClr val="000000"/>
                          </a:solidFill>
                          <a:latin typeface="Times New Roman"/>
                          <a:cs typeface="Times New Roman"/>
                        </a:rPr>
                        <a:t>Verification deferred to the final project phase; late discovery of UI and contrast defects</a:t>
                      </a:r>
                      <a:endParaRPr lang="en-US">
                        <a:latin typeface="Times New Roman"/>
                        <a:cs typeface="Times New Roman"/>
                      </a:endParaRPr>
                    </a:p>
                  </a:txBody>
                  <a:tcPr/>
                </a:tc>
                <a:tc>
                  <a:txBody>
                    <a:bodyPr/>
                    <a:lstStyle/>
                    <a:p>
                      <a:pPr lvl="0">
                        <a:buNone/>
                      </a:pPr>
                      <a:r>
                        <a:rPr lang="en-US" sz="1600" b="0" i="0" u="none" strike="noStrike" noProof="0">
                          <a:solidFill>
                            <a:srgbClr val="000000"/>
                          </a:solidFill>
                          <a:latin typeface="Times New Roman"/>
                          <a:cs typeface="Times New Roman"/>
                        </a:rPr>
                        <a:t>Continuous testing per sprint; accessibility (WCAG AA contrast) and unit tests baked into Definition of Done.</a:t>
                      </a:r>
                      <a:endParaRPr lang="en-US">
                        <a:latin typeface="Times New Roman"/>
                        <a:cs typeface="Times New Roman"/>
                      </a:endParaRPr>
                    </a:p>
                  </a:txBody>
                  <a:tcPr/>
                </a:tc>
                <a:extLst>
                  <a:ext uri="{0D108BD9-81ED-4DB2-BD59-A6C34878D82A}">
                    <a16:rowId xmlns:a16="http://schemas.microsoft.com/office/drawing/2014/main" val="1073274713"/>
                  </a:ext>
                </a:extLst>
              </a:tr>
              <a:tr h="719918">
                <a:tc>
                  <a:txBody>
                    <a:bodyPr/>
                    <a:lstStyle/>
                    <a:p>
                      <a:pPr lvl="0">
                        <a:buNone/>
                      </a:pPr>
                      <a:r>
                        <a:rPr lang="en-US" sz="1600" b="1" i="0" u="none" strike="noStrike" noProof="0">
                          <a:solidFill>
                            <a:srgbClr val="000000"/>
                          </a:solidFill>
                          <a:latin typeface="Times New Roman"/>
                          <a:cs typeface="Times New Roman"/>
                        </a:rPr>
                        <a:t>Risk Management Profile</a:t>
                      </a:r>
                      <a:endParaRPr lang="en-US" sz="1600" b="1">
                        <a:latin typeface="Times New Roman"/>
                        <a:cs typeface="Times New Roman"/>
                      </a:endParaRPr>
                    </a:p>
                  </a:txBody>
                  <a:tcPr/>
                </a:tc>
                <a:tc>
                  <a:txBody>
                    <a:bodyPr/>
                    <a:lstStyle/>
                    <a:p>
                      <a:pPr lvl="0">
                        <a:buNone/>
                      </a:pPr>
                      <a:r>
                        <a:rPr lang="en-US" sz="1600" b="0" i="0" u="none" strike="noStrike" noProof="0">
                          <a:solidFill>
                            <a:srgbClr val="000000"/>
                          </a:solidFill>
                          <a:latin typeface="Times New Roman"/>
                          <a:cs typeface="Times New Roman"/>
                        </a:rPr>
                        <a:t>High risk of late-stage failure; heavy upfront assumptions (Marquez, 2025).</a:t>
                      </a:r>
                      <a:endParaRPr lang="en-US">
                        <a:latin typeface="Times New Roman"/>
                        <a:cs typeface="Times New Roman"/>
                      </a:endParaRPr>
                    </a:p>
                  </a:txBody>
                  <a:tcPr/>
                </a:tc>
                <a:tc>
                  <a:txBody>
                    <a:bodyPr/>
                    <a:lstStyle/>
                    <a:p>
                      <a:pPr lvl="0">
                        <a:buNone/>
                      </a:pPr>
                      <a:r>
                        <a:rPr lang="en-US" sz="1600" b="0" i="0" u="none" strike="noStrike" noProof="0">
                          <a:solidFill>
                            <a:srgbClr val="000000"/>
                          </a:solidFill>
                          <a:latin typeface="Times New Roman"/>
                          <a:cs typeface="Times New Roman"/>
                        </a:rPr>
                        <a:t>Low risk via empirical feedback loops, short releases, and rapid uncertainty mitigation (Marquez, 2025)</a:t>
                      </a:r>
                      <a:endParaRPr lang="en-US">
                        <a:latin typeface="Times New Roman"/>
                        <a:cs typeface="Times New Roman"/>
                      </a:endParaRPr>
                    </a:p>
                  </a:txBody>
                  <a:tcPr/>
                </a:tc>
                <a:extLst>
                  <a:ext uri="{0D108BD9-81ED-4DB2-BD59-A6C34878D82A}">
                    <a16:rowId xmlns:a16="http://schemas.microsoft.com/office/drawing/2014/main" val="3496091036"/>
                  </a:ext>
                </a:extLst>
              </a:tr>
            </a:tbl>
          </a:graphicData>
        </a:graphic>
      </p:graphicFrame>
    </p:spTree>
    <p:extLst>
      <p:ext uri="{BB962C8B-B14F-4D97-AF65-F5344CB8AC3E}">
        <p14:creationId xmlns:p14="http://schemas.microsoft.com/office/powerpoint/2010/main" val="15288783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E8B676-C089-8B31-1CC3-B3FCA1CB55A5}"/>
              </a:ext>
            </a:extLst>
          </p:cNvPr>
          <p:cNvSpPr>
            <a:spLocks noGrp="1"/>
          </p:cNvSpPr>
          <p:nvPr>
            <p:ph type="title"/>
          </p:nvPr>
        </p:nvSpPr>
        <p:spPr>
          <a:xfrm>
            <a:off x="179115" y="-1937"/>
            <a:ext cx="8534400" cy="1507067"/>
          </a:xfrm>
        </p:spPr>
        <p:txBody>
          <a:bodyPr/>
          <a:lstStyle/>
          <a:p>
            <a:r>
              <a:rPr lang="en-US" dirty="0">
                <a:solidFill>
                  <a:schemeClr val="bg1"/>
                </a:solidFill>
                <a:highlight>
                  <a:srgbClr val="FFFF00"/>
                </a:highlight>
                <a:latin typeface="Times New Roman"/>
                <a:ea typeface="+mj-lt"/>
                <a:cs typeface="Times New Roman"/>
              </a:rPr>
              <a:t>Choosing the Right Methodology for </a:t>
            </a:r>
            <a:r>
              <a:rPr lang="en-US" dirty="0" err="1">
                <a:solidFill>
                  <a:schemeClr val="bg1"/>
                </a:solidFill>
                <a:highlight>
                  <a:srgbClr val="FFFF00"/>
                </a:highlight>
                <a:latin typeface="Times New Roman"/>
                <a:ea typeface="+mj-lt"/>
                <a:cs typeface="Times New Roman"/>
              </a:rPr>
              <a:t>ChadaTech</a:t>
            </a:r>
            <a:endParaRPr lang="en-US">
              <a:solidFill>
                <a:schemeClr val="bg1"/>
              </a:solidFill>
              <a:highlight>
                <a:srgbClr val="FFFF00"/>
              </a:highlight>
              <a:latin typeface="Times New Roman"/>
              <a:cs typeface="Times New Roman"/>
            </a:endParaRPr>
          </a:p>
        </p:txBody>
      </p:sp>
      <p:graphicFrame>
        <p:nvGraphicFramePr>
          <p:cNvPr id="308" name="Content Placeholder 134">
            <a:extLst>
              <a:ext uri="{FF2B5EF4-FFF2-40B4-BE49-F238E27FC236}">
                <a16:creationId xmlns:a16="http://schemas.microsoft.com/office/drawing/2014/main" id="{7C4EC7B5-EF01-27ED-C11C-EFB69D7D291A}"/>
              </a:ext>
            </a:extLst>
          </p:cNvPr>
          <p:cNvGraphicFramePr>
            <a:graphicFrameLocks noGrp="1"/>
          </p:cNvGraphicFramePr>
          <p:nvPr>
            <p:ph idx="1"/>
            <p:extLst>
              <p:ext uri="{D42A27DB-BD31-4B8C-83A1-F6EECF244321}">
                <p14:modId xmlns:p14="http://schemas.microsoft.com/office/powerpoint/2010/main" val="2496571838"/>
              </p:ext>
            </p:extLst>
          </p:nvPr>
        </p:nvGraphicFramePr>
        <p:xfrm>
          <a:off x="1197030" y="1417517"/>
          <a:ext cx="9799714" cy="387045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745" name="TextBox 744">
            <a:extLst>
              <a:ext uri="{FF2B5EF4-FFF2-40B4-BE49-F238E27FC236}">
                <a16:creationId xmlns:a16="http://schemas.microsoft.com/office/drawing/2014/main" id="{35715DED-2274-72A1-CE8B-00DE05776AD4}"/>
              </a:ext>
            </a:extLst>
          </p:cNvPr>
          <p:cNvSpPr txBox="1"/>
          <p:nvPr/>
        </p:nvSpPr>
        <p:spPr>
          <a:xfrm>
            <a:off x="234629" y="5425409"/>
            <a:ext cx="11720985" cy="923330"/>
          </a:xfrm>
          <a:prstGeom prst="rect">
            <a:avLst/>
          </a:prstGeom>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solidFill>
                  <a:srgbClr val="000000"/>
                </a:solidFill>
                <a:latin typeface="Times New Roman"/>
                <a:ea typeface="+mn-lt"/>
                <a:cs typeface="Times New Roman"/>
              </a:rPr>
              <a:t>Strategic Recommendation:</a:t>
            </a:r>
            <a:r>
              <a:rPr lang="en-US" dirty="0">
                <a:solidFill>
                  <a:srgbClr val="000000"/>
                </a:solidFill>
                <a:latin typeface="Times New Roman"/>
                <a:ea typeface="+mn-lt"/>
                <a:cs typeface="Times New Roman"/>
              </a:rPr>
              <a:t> Transition </a:t>
            </a:r>
            <a:r>
              <a:rPr lang="en-US" dirty="0" err="1">
                <a:solidFill>
                  <a:srgbClr val="000000"/>
                </a:solidFill>
                <a:latin typeface="Times New Roman"/>
                <a:ea typeface="+mn-lt"/>
                <a:cs typeface="Times New Roman"/>
              </a:rPr>
              <a:t>ChadaTech's</a:t>
            </a:r>
            <a:r>
              <a:rPr lang="en-US" dirty="0">
                <a:solidFill>
                  <a:srgbClr val="000000"/>
                </a:solidFill>
                <a:latin typeface="Times New Roman"/>
                <a:ea typeface="+mn-lt"/>
                <a:cs typeface="Times New Roman"/>
              </a:rPr>
              <a:t> core software development teams to Scrum-Agile, supported by dedicated Scrum Masters and digital information radiators (Jira) to optimize transparency, team morale, and client satisfaction. (Shastri et al., 2021)</a:t>
            </a:r>
            <a:endParaRPr lang="en-US" dirty="0">
              <a:solidFill>
                <a:srgbClr val="000000"/>
              </a:solidFill>
              <a:latin typeface="Times New Roman"/>
              <a:cs typeface="Times New Roman"/>
            </a:endParaRPr>
          </a:p>
        </p:txBody>
      </p:sp>
    </p:spTree>
    <p:extLst>
      <p:ext uri="{BB962C8B-B14F-4D97-AF65-F5344CB8AC3E}">
        <p14:creationId xmlns:p14="http://schemas.microsoft.com/office/powerpoint/2010/main" val="33623693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588725-8F98-92E1-2209-0E2041E3D8F3}"/>
              </a:ext>
            </a:extLst>
          </p:cNvPr>
          <p:cNvSpPr>
            <a:spLocks noGrp="1"/>
          </p:cNvSpPr>
          <p:nvPr>
            <p:ph type="title"/>
          </p:nvPr>
        </p:nvSpPr>
        <p:spPr>
          <a:xfrm>
            <a:off x="4433252" y="111275"/>
            <a:ext cx="3326675" cy="1507067"/>
          </a:xfrm>
        </p:spPr>
        <p:txBody>
          <a:bodyPr/>
          <a:lstStyle/>
          <a:p>
            <a:r>
              <a:rPr lang="en-US">
                <a:solidFill>
                  <a:schemeClr val="bg1"/>
                </a:solidFill>
                <a:highlight>
                  <a:srgbClr val="FFFF00"/>
                </a:highlight>
              </a:rPr>
              <a:t>References</a:t>
            </a:r>
          </a:p>
        </p:txBody>
      </p:sp>
      <p:sp>
        <p:nvSpPr>
          <p:cNvPr id="3" name="Content Placeholder 2">
            <a:extLst>
              <a:ext uri="{FF2B5EF4-FFF2-40B4-BE49-F238E27FC236}">
                <a16:creationId xmlns:a16="http://schemas.microsoft.com/office/drawing/2014/main" id="{68BCD1CD-8913-70CB-5862-05FBB2A6F29E}"/>
              </a:ext>
            </a:extLst>
          </p:cNvPr>
          <p:cNvSpPr>
            <a:spLocks noGrp="1"/>
          </p:cNvSpPr>
          <p:nvPr>
            <p:ph idx="1"/>
          </p:nvPr>
        </p:nvSpPr>
        <p:spPr>
          <a:xfrm>
            <a:off x="1829389" y="1788265"/>
            <a:ext cx="8534400" cy="3615267"/>
          </a:xfrm>
        </p:spPr>
        <p:txBody>
          <a:bodyPr vert="horz" lIns="91440" tIns="45720" rIns="91440" bIns="45720" rtlCol="0" anchor="ctr">
            <a:noAutofit/>
          </a:bodyPr>
          <a:lstStyle/>
          <a:p>
            <a:pPr marL="0" indent="0">
              <a:buClr>
                <a:srgbClr val="FFFFFF"/>
              </a:buClr>
              <a:buNone/>
            </a:pPr>
            <a:endParaRPr lang="en-US" sz="1400" dirty="0">
              <a:solidFill>
                <a:schemeClr val="tx1"/>
              </a:solidFill>
              <a:latin typeface="Times New Roman"/>
              <a:ea typeface="+mn-lt"/>
              <a:cs typeface="Times New Roman"/>
            </a:endParaRPr>
          </a:p>
          <a:p>
            <a:pPr marL="0" indent="0">
              <a:buClr>
                <a:srgbClr val="FFFFFF"/>
              </a:buClr>
              <a:buNone/>
            </a:pPr>
            <a:r>
              <a:rPr lang="en-US" sz="1400">
                <a:solidFill>
                  <a:schemeClr val="tx1"/>
                </a:solidFill>
                <a:latin typeface="Times New Roman"/>
                <a:ea typeface="+mn-lt"/>
                <a:cs typeface="Times New Roman"/>
              </a:rPr>
              <a:t>Edison, H., Wang, X., &amp; Conboy, K. (2022). Comparing methods for large-scale Agile </a:t>
            </a:r>
            <a:endParaRPr lang="en-US" sz="1400" dirty="0">
              <a:solidFill>
                <a:schemeClr val="tx1"/>
              </a:solidFill>
              <a:latin typeface="Times New Roman"/>
              <a:ea typeface="+mn-lt"/>
              <a:cs typeface="Times New Roman"/>
            </a:endParaRPr>
          </a:p>
          <a:p>
            <a:pPr marL="0" indent="0">
              <a:buNone/>
            </a:pPr>
            <a:r>
              <a:rPr lang="en-US" sz="1400" dirty="0">
                <a:solidFill>
                  <a:schemeClr val="tx1"/>
                </a:solidFill>
                <a:latin typeface="Times New Roman"/>
                <a:ea typeface="+mn-lt"/>
                <a:cs typeface="Times New Roman"/>
              </a:rPr>
              <a:t>  </a:t>
            </a:r>
            <a:r>
              <a:rPr lang="en-US" sz="1400">
                <a:solidFill>
                  <a:schemeClr val="tx1"/>
                </a:solidFill>
                <a:latin typeface="Times New Roman"/>
                <a:ea typeface="+mn-lt"/>
                <a:cs typeface="Times New Roman"/>
              </a:rPr>
              <a:t> software development: A systematic literature review. IEEE Transactions on </a:t>
            </a:r>
            <a:endParaRPr lang="en-US" sz="1400" dirty="0">
              <a:solidFill>
                <a:schemeClr val="tx1"/>
              </a:solidFill>
              <a:latin typeface="Times New Roman"/>
              <a:ea typeface="+mn-lt"/>
              <a:cs typeface="Times New Roman"/>
            </a:endParaRPr>
          </a:p>
          <a:p>
            <a:pPr marL="0" indent="0">
              <a:buNone/>
            </a:pPr>
            <a:r>
              <a:rPr lang="en-US" sz="1400">
                <a:solidFill>
                  <a:schemeClr val="tx1"/>
                </a:solidFill>
                <a:latin typeface="Times New Roman"/>
                <a:ea typeface="+mn-lt"/>
                <a:cs typeface="Times New Roman"/>
              </a:rPr>
              <a:t>   Software Engineering, 48(8), 2709–2731. </a:t>
            </a:r>
            <a:r>
              <a:rPr lang="en-US" sz="1400" dirty="0">
                <a:solidFill>
                  <a:schemeClr val="tx1"/>
                </a:solidFill>
                <a:latin typeface="Times New Roman"/>
                <a:ea typeface="+mn-lt"/>
                <a:cs typeface="Times New Roman"/>
                <a:hlinkClick r:id="rId2">
                  <a:extLst>
                    <a:ext uri="{A12FA001-AC4F-418D-AE19-62706E023703}">
                      <ahyp:hlinkClr xmlns:ahyp="http://schemas.microsoft.com/office/drawing/2018/hyperlinkcolor" val="tx"/>
                    </a:ext>
                  </a:extLst>
                </a:hlinkClick>
              </a:rPr>
              <a:t>https://doi.org/10.1109/TSE.2021.3069039</a:t>
            </a:r>
            <a:endParaRPr lang="en-US" sz="1400">
              <a:solidFill>
                <a:schemeClr val="tx1"/>
              </a:solidFill>
              <a:latin typeface="Times New Roman"/>
              <a:ea typeface="+mn-lt"/>
              <a:cs typeface="Times New Roman"/>
              <a:hlinkClick r:id="" action="ppaction://noaction">
                <a:extLst>
                  <a:ext uri="{A12FA001-AC4F-418D-AE19-62706E023703}">
                    <ahyp:hlinkClr xmlns:ahyp="http://schemas.microsoft.com/office/drawing/2018/hyperlinkcolor" val="tx"/>
                  </a:ext>
                </a:extLst>
              </a:hlinkClick>
            </a:endParaRPr>
          </a:p>
          <a:p>
            <a:pPr>
              <a:buClr>
                <a:srgbClr val="FFFFFF"/>
              </a:buClr>
            </a:pPr>
            <a:endParaRPr lang="en-US" sz="1400" dirty="0">
              <a:solidFill>
                <a:schemeClr val="tx1"/>
              </a:solidFill>
              <a:latin typeface="Times New Roman"/>
              <a:ea typeface="+mn-lt"/>
              <a:cs typeface="Times New Roman"/>
            </a:endParaRPr>
          </a:p>
          <a:p>
            <a:pPr marL="0" indent="0">
              <a:buClr>
                <a:srgbClr val="FFFFFF"/>
              </a:buClr>
              <a:buNone/>
            </a:pPr>
            <a:r>
              <a:rPr lang="en-US" sz="1400">
                <a:solidFill>
                  <a:schemeClr val="tx1"/>
                </a:solidFill>
                <a:latin typeface="Times New Roman"/>
                <a:ea typeface="+mn-lt"/>
                <a:cs typeface="Times New Roman"/>
              </a:rPr>
              <a:t>Kostin, D., &amp; Strode, D. (2023). Effective communication in globally distributed Scrum:  </a:t>
            </a:r>
            <a:endParaRPr lang="en-US" sz="1400" dirty="0">
              <a:solidFill>
                <a:schemeClr val="tx1"/>
              </a:solidFill>
              <a:latin typeface="Times New Roman"/>
              <a:ea typeface="+mn-lt"/>
              <a:cs typeface="Times New Roman"/>
            </a:endParaRPr>
          </a:p>
          <a:p>
            <a:pPr marL="0" indent="0">
              <a:buNone/>
            </a:pPr>
            <a:r>
              <a:rPr lang="en-US" sz="1400" dirty="0">
                <a:solidFill>
                  <a:schemeClr val="tx1"/>
                </a:solidFill>
                <a:latin typeface="Times New Roman"/>
                <a:ea typeface="+mn-lt"/>
                <a:cs typeface="Times New Roman"/>
              </a:rPr>
              <a:t>     </a:t>
            </a:r>
            <a:r>
              <a:rPr lang="en-US" sz="1400">
                <a:solidFill>
                  <a:schemeClr val="tx1"/>
                </a:solidFill>
                <a:latin typeface="Times New Roman"/>
                <a:ea typeface="+mn-lt"/>
                <a:cs typeface="Times New Roman"/>
              </a:rPr>
              <a:t> A model and practical guidance. Australasian Journal of Information Systems, 27, </a:t>
            </a:r>
            <a:endParaRPr lang="en-US" sz="1400" dirty="0">
              <a:solidFill>
                <a:schemeClr val="tx1"/>
              </a:solidFill>
              <a:latin typeface="Times New Roman"/>
              <a:ea typeface="+mn-lt"/>
              <a:cs typeface="Times New Roman"/>
            </a:endParaRPr>
          </a:p>
          <a:p>
            <a:pPr marL="0" indent="0">
              <a:buClr>
                <a:srgbClr val="FFFFFF"/>
              </a:buClr>
              <a:buNone/>
            </a:pPr>
            <a:r>
              <a:rPr lang="en-US" sz="1400" dirty="0">
                <a:solidFill>
                  <a:schemeClr val="tx1"/>
                </a:solidFill>
                <a:latin typeface="Times New Roman"/>
                <a:ea typeface="+mn-lt"/>
                <a:cs typeface="Times New Roman"/>
              </a:rPr>
              <a:t>  </a:t>
            </a:r>
            <a:r>
              <a:rPr lang="en-US" sz="1400">
                <a:solidFill>
                  <a:schemeClr val="tx1"/>
                </a:solidFill>
                <a:latin typeface="Times New Roman"/>
                <a:ea typeface="+mn-lt"/>
                <a:cs typeface="Times New Roman"/>
              </a:rPr>
              <a:t>    1–28. </a:t>
            </a:r>
            <a:r>
              <a:rPr lang="en-US" sz="1400" dirty="0">
                <a:solidFill>
                  <a:schemeClr val="tx1"/>
                </a:solidFill>
                <a:latin typeface="Times New Roman"/>
                <a:ea typeface="+mn-lt"/>
                <a:cs typeface="Times New Roman"/>
                <a:hlinkClick r:id="rId3">
                  <a:extLst>
                    <a:ext uri="{A12FA001-AC4F-418D-AE19-62706E023703}">
                      <ahyp:hlinkClr xmlns:ahyp="http://schemas.microsoft.com/office/drawing/2018/hyperlinkcolor" val="tx"/>
                    </a:ext>
                  </a:extLst>
                </a:hlinkClick>
              </a:rPr>
              <a:t>https://doi.org/10.3127/ajis.v27i0.4501</a:t>
            </a:r>
            <a:endParaRPr lang="en-US" sz="1400">
              <a:solidFill>
                <a:schemeClr val="tx1"/>
              </a:solidFill>
              <a:latin typeface="Times New Roman"/>
              <a:ea typeface="+mn-lt"/>
              <a:cs typeface="Times New Roman"/>
              <a:hlinkClick r:id="" action="ppaction://noaction">
                <a:extLst>
                  <a:ext uri="{A12FA001-AC4F-418D-AE19-62706E023703}">
                    <ahyp:hlinkClr xmlns:ahyp="http://schemas.microsoft.com/office/drawing/2018/hyperlinkcolor" val="tx"/>
                  </a:ext>
                </a:extLst>
              </a:hlinkClick>
            </a:endParaRPr>
          </a:p>
          <a:p>
            <a:pPr>
              <a:buClr>
                <a:srgbClr val="FFFFFF"/>
              </a:buClr>
            </a:pPr>
            <a:endParaRPr lang="en-US" sz="1400" dirty="0">
              <a:solidFill>
                <a:schemeClr val="tx1"/>
              </a:solidFill>
              <a:latin typeface="Times New Roman"/>
              <a:ea typeface="+mn-lt"/>
              <a:cs typeface="Times New Roman"/>
            </a:endParaRPr>
          </a:p>
          <a:p>
            <a:pPr>
              <a:buNone/>
            </a:pPr>
            <a:r>
              <a:rPr lang="en-US" sz="1400" dirty="0">
                <a:solidFill>
                  <a:schemeClr val="tx1"/>
                </a:solidFill>
                <a:latin typeface="Times New Roman"/>
                <a:ea typeface="+mn-lt"/>
                <a:cs typeface="Times New Roman"/>
              </a:rPr>
              <a:t>Marquez Elizabeth A. Corrales. (2025). Evaluation of the effectiveness of risk management strategies in agile and waterfall project management methodologies. </a:t>
            </a:r>
            <a:r>
              <a:rPr lang="en-US" sz="1400" i="1" dirty="0" err="1">
                <a:solidFill>
                  <a:schemeClr val="tx1"/>
                </a:solidFill>
                <a:latin typeface="Times New Roman"/>
                <a:ea typeface="+mn-lt"/>
                <a:cs typeface="Times New Roman"/>
              </a:rPr>
              <a:t>Tehnika</a:t>
            </a:r>
            <a:r>
              <a:rPr lang="en-US" sz="1400" dirty="0">
                <a:solidFill>
                  <a:schemeClr val="tx1"/>
                </a:solidFill>
                <a:latin typeface="Times New Roman"/>
                <a:ea typeface="+mn-lt"/>
                <a:cs typeface="Times New Roman"/>
              </a:rPr>
              <a:t>, </a:t>
            </a:r>
            <a:r>
              <a:rPr lang="en-US" sz="1400" i="1" dirty="0">
                <a:solidFill>
                  <a:schemeClr val="tx1"/>
                </a:solidFill>
                <a:latin typeface="Times New Roman"/>
                <a:ea typeface="+mn-lt"/>
                <a:cs typeface="Times New Roman"/>
              </a:rPr>
              <a:t>80</a:t>
            </a:r>
            <a:r>
              <a:rPr lang="en-US" sz="1400" dirty="0">
                <a:solidFill>
                  <a:schemeClr val="tx1"/>
                </a:solidFill>
                <a:latin typeface="Times New Roman"/>
                <a:ea typeface="+mn-lt"/>
                <a:cs typeface="Times New Roman"/>
              </a:rPr>
              <a:t>(5), 545–551. </a:t>
            </a:r>
            <a:r>
              <a:rPr lang="en-US" sz="1400" dirty="0">
                <a:solidFill>
                  <a:schemeClr val="tx1"/>
                </a:solidFill>
                <a:latin typeface="Times New Roman"/>
                <a:ea typeface="+mn-lt"/>
                <a:cs typeface="Times New Roman"/>
                <a:hlinkClick r:id="rId4">
                  <a:extLst>
                    <a:ext uri="{A12FA001-AC4F-418D-AE19-62706E023703}">
                      <ahyp:hlinkClr xmlns:ahyp="http://schemas.microsoft.com/office/drawing/2018/hyperlinkcolor" val="tx"/>
                    </a:ext>
                  </a:extLst>
                </a:hlinkClick>
              </a:rPr>
              <a:t>https://doi.org/10.5937/tehnika2505545C</a:t>
            </a:r>
            <a:endParaRPr lang="en-US" sz="1400">
              <a:solidFill>
                <a:schemeClr val="tx1"/>
              </a:solidFill>
              <a:latin typeface="Times New Roman"/>
              <a:cs typeface="Times New Roman"/>
              <a:hlinkClick r:id="" action="ppaction://noaction">
                <a:extLst>
                  <a:ext uri="{A12FA001-AC4F-418D-AE19-62706E023703}">
                    <ahyp:hlinkClr xmlns:ahyp="http://schemas.microsoft.com/office/drawing/2018/hyperlinkcolor" val="tx"/>
                  </a:ext>
                </a:extLst>
              </a:hlinkClick>
            </a:endParaRPr>
          </a:p>
          <a:p>
            <a:pPr marL="0" indent="0">
              <a:buNone/>
            </a:pPr>
            <a:endParaRPr lang="en-US" sz="1400" dirty="0">
              <a:solidFill>
                <a:schemeClr val="tx1"/>
              </a:solidFill>
              <a:latin typeface="Times New Roman"/>
              <a:ea typeface="+mn-lt"/>
              <a:cs typeface="Times New Roman"/>
            </a:endParaRPr>
          </a:p>
          <a:p>
            <a:pPr>
              <a:buClr>
                <a:srgbClr val="FFFFFF"/>
              </a:buClr>
            </a:pPr>
            <a:endParaRPr lang="en-US" sz="1400" dirty="0">
              <a:solidFill>
                <a:schemeClr val="tx1"/>
              </a:solidFill>
              <a:latin typeface="Times New Roman"/>
              <a:ea typeface="+mn-lt"/>
              <a:cs typeface="Times New Roman"/>
            </a:endParaRPr>
          </a:p>
          <a:p>
            <a:pPr>
              <a:buNone/>
            </a:pPr>
            <a:r>
              <a:rPr lang="en-US" sz="1400">
                <a:solidFill>
                  <a:schemeClr val="tx1"/>
                </a:solidFill>
                <a:latin typeface="Times New Roman"/>
                <a:ea typeface="+mn-lt"/>
                <a:cs typeface="Times New Roman"/>
              </a:rPr>
              <a:t>Shastri, Y., Hoda, R., &amp; Amor, R. (2021). Spearheading agile: the role of the scrum master in agile projects. </a:t>
            </a:r>
            <a:r>
              <a:rPr lang="en-US" sz="1400" i="1">
                <a:solidFill>
                  <a:schemeClr val="tx1"/>
                </a:solidFill>
                <a:latin typeface="Times New Roman"/>
                <a:ea typeface="+mn-lt"/>
                <a:cs typeface="Times New Roman"/>
              </a:rPr>
              <a:t>Empirical Software Engineering</a:t>
            </a:r>
            <a:r>
              <a:rPr lang="en-US" sz="1400">
                <a:solidFill>
                  <a:schemeClr val="tx1"/>
                </a:solidFill>
                <a:latin typeface="Times New Roman"/>
                <a:ea typeface="+mn-lt"/>
                <a:cs typeface="Times New Roman"/>
              </a:rPr>
              <a:t>, </a:t>
            </a:r>
            <a:r>
              <a:rPr lang="en-US" sz="1400" i="1">
                <a:solidFill>
                  <a:schemeClr val="tx1"/>
                </a:solidFill>
                <a:latin typeface="Times New Roman"/>
                <a:ea typeface="+mn-lt"/>
                <a:cs typeface="Times New Roman"/>
              </a:rPr>
              <a:t>26</a:t>
            </a:r>
            <a:r>
              <a:rPr lang="en-US" sz="1400">
                <a:solidFill>
                  <a:schemeClr val="tx1"/>
                </a:solidFill>
                <a:latin typeface="Times New Roman"/>
                <a:ea typeface="+mn-lt"/>
                <a:cs typeface="Times New Roman"/>
              </a:rPr>
              <a:t>(1), 1–31. </a:t>
            </a:r>
            <a:r>
              <a:rPr lang="en-US" sz="1400" dirty="0">
                <a:solidFill>
                  <a:schemeClr val="tx1"/>
                </a:solidFill>
                <a:latin typeface="Times New Roman"/>
                <a:ea typeface="+mn-lt"/>
                <a:cs typeface="Times New Roman"/>
                <a:hlinkClick r:id="rId5">
                  <a:extLst>
                    <a:ext uri="{A12FA001-AC4F-418D-AE19-62706E023703}">
                      <ahyp:hlinkClr xmlns:ahyp="http://schemas.microsoft.com/office/drawing/2018/hyperlinkcolor" val="tx"/>
                    </a:ext>
                  </a:extLst>
                </a:hlinkClick>
              </a:rPr>
              <a:t>https://doi.org/10.1007/s10664-020-09899-4</a:t>
            </a:r>
            <a:endParaRPr lang="en-US" sz="1400" dirty="0">
              <a:solidFill>
                <a:schemeClr val="tx1"/>
              </a:solidFill>
              <a:latin typeface="Times New Roman"/>
              <a:ea typeface="+mn-lt"/>
              <a:cs typeface="Times New Roman"/>
            </a:endParaRPr>
          </a:p>
          <a:p>
            <a:pPr marL="0" indent="0">
              <a:buNone/>
            </a:pPr>
            <a:endParaRPr lang="en-US" sz="1400" dirty="0">
              <a:solidFill>
                <a:schemeClr val="tx1"/>
              </a:solidFill>
              <a:latin typeface="Times New Roman"/>
              <a:ea typeface="+mn-lt"/>
              <a:cs typeface="Times New Roman"/>
            </a:endParaRPr>
          </a:p>
        </p:txBody>
      </p:sp>
    </p:spTree>
    <p:extLst>
      <p:ext uri="{BB962C8B-B14F-4D97-AF65-F5344CB8AC3E}">
        <p14:creationId xmlns:p14="http://schemas.microsoft.com/office/powerpoint/2010/main" val="2115015554"/>
      </p:ext>
    </p:extLst>
  </p:cSld>
  <p:clrMapOvr>
    <a:masterClrMapping/>
  </p:clrMapOvr>
</p:sld>
</file>

<file path=ppt/theme/theme1.xml><?xml version="1.0" encoding="utf-8"?>
<a:theme xmlns:a="http://schemas.openxmlformats.org/drawingml/2006/main" name="Slice">
  <a:themeElements>
    <a:clrScheme name="Slice">
      <a:dk1>
        <a:sysClr val="windowText" lastClr="000000"/>
      </a:dk1>
      <a:lt1>
        <a:sysClr val="window" lastClr="FFFFFF"/>
      </a:lt1>
      <a:dk2>
        <a:srgbClr val="537D0B"/>
      </a:dk2>
      <a:lt2>
        <a:srgbClr val="A9E257"/>
      </a:lt2>
      <a:accent1>
        <a:srgbClr val="38540A"/>
      </a:accent1>
      <a:accent2>
        <a:srgbClr val="31A274"/>
      </a:accent2>
      <a:accent3>
        <a:srgbClr val="236073"/>
      </a:accent3>
      <a:accent4>
        <a:srgbClr val="6C4D90"/>
      </a:accent4>
      <a:accent5>
        <a:srgbClr val="983C27"/>
      </a:accent5>
      <a:accent6>
        <a:srgbClr val="CD811F"/>
      </a:accent6>
      <a:hlink>
        <a:srgbClr val="293F06"/>
      </a:hlink>
      <a:folHlink>
        <a:srgbClr val="68883A"/>
      </a:folHlink>
    </a:clrScheme>
    <a:fontScheme name="Slice">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Slice">
      <a:fillStyleLst>
        <a:solidFill>
          <a:schemeClr val="phClr"/>
        </a:solidFill>
        <a:gradFill rotWithShape="1">
          <a:gsLst>
            <a:gs pos="0">
              <a:schemeClr val="phClr">
                <a:tint val="62000"/>
                <a:hueMod val="94000"/>
                <a:satMod val="140000"/>
                <a:lumMod val="110000"/>
              </a:schemeClr>
            </a:gs>
            <a:gs pos="100000">
              <a:schemeClr val="phClr">
                <a:tint val="84000"/>
                <a:satMod val="160000"/>
              </a:schemeClr>
            </a:gs>
          </a:gsLst>
          <a:lin ang="5400000" scaled="0"/>
        </a:gradFill>
        <a:gradFill rotWithShape="1">
          <a:gsLst>
            <a:gs pos="0">
              <a:schemeClr val="phClr">
                <a:tint val="98000"/>
                <a:hueMod val="94000"/>
                <a:satMod val="130000"/>
                <a:lumMod val="128000"/>
              </a:schemeClr>
            </a:gs>
            <a:gs pos="100000">
              <a:schemeClr val="phClr">
                <a:shade val="94000"/>
                <a:lumMod val="88000"/>
              </a:schemeClr>
            </a:gs>
          </a:gsLst>
          <a:lin ang="5400000" scaled="0"/>
        </a:gradFill>
      </a:fillStyleLst>
      <a:lnStyleLst>
        <a:ln w="9525" cap="rnd" cmpd="sng" algn="ctr">
          <a:solidFill>
            <a:schemeClr val="phClr">
              <a:tint val="76000"/>
              <a:alpha val="60000"/>
              <a:hueMod val="94000"/>
            </a:schemeClr>
          </a:solidFill>
          <a:prstDash val="solid"/>
        </a:ln>
        <a:ln w="15875" cap="rnd" cmpd="sng" algn="ctr">
          <a:solidFill>
            <a:schemeClr val="phClr">
              <a:hueMod val="94000"/>
            </a:schemeClr>
          </a:solidFill>
          <a:prstDash val="solid"/>
        </a:ln>
        <a:ln w="28575" cap="rnd"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50800" dist="38100" dir="5400000" rotWithShape="0">
              <a:srgbClr val="000000">
                <a:alpha val="46000"/>
              </a:srgbClr>
            </a:outerShdw>
          </a:effectLst>
          <a:scene3d>
            <a:camera prst="orthographicFront">
              <a:rot lat="0" lon="0" rev="0"/>
            </a:camera>
            <a:lightRig rig="threePt" dir="t"/>
          </a:scene3d>
          <a:sp3d prstMaterial="plastic">
            <a:bevelT w="25400" h="25400"/>
          </a:sp3d>
        </a:effectStyle>
      </a:effectStyleLst>
      <a:bgFillStyleLst>
        <a:solidFill>
          <a:schemeClr val="phClr"/>
        </a:solidFill>
        <a:gradFill rotWithShape="1">
          <a:gsLst>
            <a:gs pos="10000">
              <a:schemeClr val="phClr">
                <a:tint val="97000"/>
                <a:hueMod val="92000"/>
                <a:satMod val="169000"/>
                <a:lumMod val="164000"/>
              </a:schemeClr>
            </a:gs>
            <a:gs pos="100000">
              <a:schemeClr val="phClr">
                <a:shade val="96000"/>
                <a:satMod val="120000"/>
                <a:lumMod val="90000"/>
              </a:schemeClr>
            </a:gs>
          </a:gsLst>
          <a:lin ang="6120000" scaled="1"/>
        </a:gradFill>
        <a:gradFill rotWithShape="1">
          <a:gsLst>
            <a:gs pos="0">
              <a:schemeClr val="phClr">
                <a:tint val="97000"/>
                <a:hueMod val="92000"/>
                <a:satMod val="169000"/>
                <a:lumMod val="164000"/>
              </a:schemeClr>
            </a:gs>
            <a:gs pos="100000">
              <a:schemeClr val="phClr">
                <a:shade val="96000"/>
                <a:satMod val="120000"/>
                <a:lumMod val="90000"/>
              </a:schemeClr>
            </a:gs>
          </a:gsLst>
          <a:path path="circle">
            <a:fillToRect b="100000"/>
          </a:path>
        </a:gradFill>
      </a:bgFillStyleLst>
    </a:fmtScheme>
  </a:themeElements>
  <a:objectDefaults/>
  <a:extraClrSchemeLst/>
  <a:extLst>
    <a:ext uri="{05A4C25C-085E-4340-85A3-A5531E510DB2}">
      <thm15:themeFamily xmlns:thm15="http://schemas.microsoft.com/office/thememl/2012/main" name="Slice" id="{0507925B-6AC9-4358-8E18-C330545D08F8}" vid="{19759155-7935-4C61-A06C-C04380D1B16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6</Slides>
  <Notes>5</Notes>
  <HiddenSlides>0</HiddenSlides>
  <MMClips>0</MMClips>
  <ScaleCrop>false</ScaleCrop>
  <HeadingPairs>
    <vt:vector size="4" baseType="variant">
      <vt:variant>
        <vt:lpstr>Theme</vt:lpstr>
      </vt:variant>
      <vt:variant>
        <vt:i4>1</vt:i4>
      </vt:variant>
      <vt:variant>
        <vt:lpstr>Slide Titles</vt:lpstr>
      </vt:variant>
      <vt:variant>
        <vt:i4>6</vt:i4>
      </vt:variant>
    </vt:vector>
  </HeadingPairs>
  <TitlesOfParts>
    <vt:vector size="7" baseType="lpstr">
      <vt:lpstr>Slice</vt:lpstr>
      <vt:lpstr>Transitioning ChadaTech to Agile: SNHU Travel Pilot Insights</vt:lpstr>
      <vt:lpstr>PowerPoint Presentation</vt:lpstr>
      <vt:lpstr>Iterative Software Development  life cycle (SDLC)</vt:lpstr>
      <vt:lpstr>Waterfall vs. Agile: SNHU Travel Comparison</vt:lpstr>
      <vt:lpstr>Choosing the Right Methodology for ChadaTech</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396</cp:revision>
  <dcterms:created xsi:type="dcterms:W3CDTF">2026-08-14T13:55:33Z</dcterms:created>
  <dcterms:modified xsi:type="dcterms:W3CDTF">2026-08-16T13:20:10Z</dcterms:modified>
</cp:coreProperties>
</file>